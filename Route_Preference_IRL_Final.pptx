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B1F3A"/>
                </a:solidFill>
                <a:latin typeface="Calibri"/>
              </a:rPr>
              <a:t>Learned weights w (v3, scaled features)</a:t>
            </a:r>
          </a:p>
        </c:rich>
      </c:tx>
      <c:layout/>
      <c:overlay val="0"/>
    </c:title>
    <c:autoTitleDeleted val="0"/>
    <c:plotArea>
      <c:barChart>
        <c:barDir val="bar"/>
        <c:grouping val="clustered"/>
        <c:ser>
          <c:idx val="0"/>
          <c:order val="0"/>
          <c:tx>
            <c:strRef>
              <c:f>Sheet1!$B$1</c:f>
              <c:strCache>
                <c:ptCount val="1"/>
                <c:pt idx="0">
                  <c:v>v</c:v>
                </c:pt>
              </c:strCache>
            </c:strRef>
          </c:tx>
          <c:invertIfNegative val="0"/>
          <c:dPt>
            <c:idx val="0"/>
            <c:invertIfNegative val="0"/>
            <c:spPr>
              <a:solidFill>
                <a:srgbClr val="15803D"/>
              </a:solidFill>
            </c:spPr>
          </c:dPt>
          <c:dPt>
            <c:idx val="1"/>
            <c:invertIfNegative val="0"/>
            <c:spPr>
              <a:solidFill>
                <a:srgbClr val="15803D"/>
              </a:solidFill>
            </c:spPr>
          </c:dPt>
          <c:dPt>
            <c:idx val="2"/>
            <c:invertIfNegative val="0"/>
            <c:spPr>
              <a:solidFill>
                <a:srgbClr val="15803D"/>
              </a:solidFill>
            </c:spPr>
          </c:dPt>
          <c:dPt>
            <c:idx val="3"/>
            <c:invertIfNegative val="0"/>
            <c:spPr>
              <a:solidFill>
                <a:srgbClr val="B91C1C"/>
              </a:solidFill>
            </c:spPr>
          </c:dPt>
          <c:dPt>
            <c:idx val="4"/>
            <c:invertIfNegative val="0"/>
            <c:spPr>
              <a:solidFill>
                <a:srgbClr val="B91C1C"/>
              </a:solidFill>
            </c:spPr>
          </c:dPt>
          <c:dPt>
            <c:idx val="5"/>
            <c:invertIfNegative val="0"/>
            <c:spPr>
              <a:solidFill>
                <a:srgbClr val="B91C1C"/>
              </a:solidFill>
            </c:spPr>
          </c:dPt>
          <c:dPt>
            <c:idx val="6"/>
            <c:invertIfNegative val="0"/>
            <c:spPr>
              <a:solidFill>
                <a:srgbClr val="B91C1C"/>
              </a:solidFill>
            </c:spPr>
          </c:dPt>
          <c:dPt>
            <c:idx val="7"/>
            <c:invertIfNegative val="0"/>
            <c:spPr>
              <a:solidFill>
                <a:srgbClr val="B91C1C"/>
              </a:solidFill>
            </c:spPr>
          </c:dPt>
          <c:dPt>
            <c:idx val="8"/>
            <c:invertIfNegative val="0"/>
            <c:spPr>
              <a:solidFill>
                <a:srgbClr val="B91C1C"/>
              </a:solidFill>
            </c:spPr>
          </c:dPt>
          <c:dPt>
            <c:idx val="9"/>
            <c:invertIfNegative val="0"/>
            <c:spPr>
              <a:solidFill>
                <a:srgbClr val="B91C1C"/>
              </a:solidFill>
            </c:spPr>
          </c:dPt>
          <c:dPt>
            <c:idx val="10"/>
            <c:invertIfNegative val="0"/>
            <c:spPr>
              <a:solidFill>
                <a:srgbClr val="B91C1C"/>
              </a:solidFill>
            </c:spPr>
          </c:dPt>
          <c:cat>
            <c:strRef>
              <c:f>Sheet1!$A$2:$A$12</c:f>
              <c:strCache>
                <c:ptCount val="11"/>
                <c:pt idx="0">
                  <c:v>edge_familiarity</c:v>
                </c:pt>
                <c:pt idx="1">
                  <c:v>motorway</c:v>
                </c:pt>
                <c:pt idx="2">
                  <c:v>travel_time</c:v>
                </c:pt>
                <c:pt idx="3">
                  <c:v>num_lanes</c:v>
                </c:pt>
                <c:pt idx="4">
                  <c:v>same_road_name</c:v>
                </c:pt>
                <c:pt idx="5">
                  <c:v>primary</c:v>
                </c:pt>
                <c:pt idx="6">
                  <c:v>length</c:v>
                </c:pt>
                <c:pt idx="7">
                  <c:v>away_from_goal</c:v>
                </c:pt>
                <c:pt idx="8">
                  <c:v>turn_slight</c:v>
                </c:pt>
                <c:pt idx="9">
                  <c:v>step</c:v>
                </c:pt>
                <c:pt idx="10">
                  <c:v>turn_sharp</c:v>
                </c:pt>
              </c:strCache>
            </c:strRef>
          </c:cat>
          <c:val>
            <c:numRef>
              <c:f>Sheet1!$B$2:$B$12</c:f>
              <c:numCache>
                <c:formatCode>General</c:formatCode>
                <c:ptCount val="11"/>
                <c:pt idx="0">
                  <c:v>0.872</c:v>
                </c:pt>
                <c:pt idx="1">
                  <c:v>0.23</c:v>
                </c:pt>
                <c:pt idx="2">
                  <c:v>0.157</c:v>
                </c:pt>
                <c:pt idx="3">
                  <c:v>-0.008</c:v>
                </c:pt>
                <c:pt idx="4">
                  <c:v>-0.042</c:v>
                </c:pt>
                <c:pt idx="5">
                  <c:v>-0.111</c:v>
                </c:pt>
                <c:pt idx="6">
                  <c:v>-0.235</c:v>
                </c:pt>
                <c:pt idx="7">
                  <c:v>-0.295</c:v>
                </c:pt>
                <c:pt idx="8">
                  <c:v>-0.519</c:v>
                </c:pt>
                <c:pt idx="9">
                  <c:v>-0.674</c:v>
                </c:pt>
                <c:pt idx="10">
                  <c:v>-1.464</c:v>
                </c:pt>
              </c:numCache>
            </c:numRef>
          </c:val>
        </c:ser>
        <c:dLbls>
          <c:numFmt formatCode="0.00" sourceLinked="0"/>
          <c:txPr>
            <a:bodyPr/>
            <a:lstStyle/>
            <a:p>
              <a:pPr>
                <a:defRPr sz="1200">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low"/>
        <c:spPr>
          <a:ln>
            <a:solidFill>
              <a:srgbClr val="D6DEEA"/>
            </a:solidFill>
          </a:ln>
        </c:spPr>
        <c:txPr>
          <a:bodyPr/>
          <a:lstStyle/>
          <a:p>
            <a:pPr>
              <a:defRPr sz="1200">
                <a:latin typeface="Calibri"/>
              </a:defRPr>
            </a:pPr>
          </a:p>
        </c:txPr>
        <c:crossAx val="-2113994440"/>
        <c:crosses val="autoZero"/>
        <c:auto val="1"/>
        <c:lblAlgn val="ctr"/>
        <c:lblOffset val="100"/>
        <c:noMultiLvlLbl val="0"/>
      </c:catAx>
      <c:valAx>
        <c:axId val="-2113994440"/>
        <c:scaling>
          <c:max val="1.2"/>
          <c:min val="-1.8"/>
        </c:scaling>
        <c:delete val="0"/>
        <c:axPos val="b"/>
        <c:majorGridlines>
          <c:spPr>
            <a:ln>
              <a:solidFill>
                <a:srgbClr val="D6DEEA"/>
              </a:solidFill>
            </a:ln>
          </c:spPr>
        </c:majorGridlines>
        <c:numFmt formatCode="0.00" sourceLinked="0"/>
        <c:majorTickMark val="out"/>
        <c:minorTickMark val="none"/>
        <c:tickLblPos val="nextTo"/>
        <c:spPr>
          <a:ln>
            <a:noFill/>
          </a:ln>
        </c:spPr>
        <c:txPr>
          <a:bodyPr/>
          <a:lstStyle/>
          <a:p>
            <a:pPr>
              <a:defRPr sz="10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B1F3A"/>
                </a:solidFill>
                <a:latin typeface="Calibri"/>
              </a:rPr>
              <a:t>Edge F1 on 600 held-out trips</a:t>
            </a:r>
          </a:p>
        </c:rich>
      </c:tx>
      <c:layout/>
      <c:overlay val="0"/>
    </c:title>
    <c:autoTitleDeleted val="0"/>
    <c:plotArea>
      <c:barChart>
        <c:barDir val="bar"/>
        <c:grouping val="clustered"/>
        <c:ser>
          <c:idx val="0"/>
          <c:order val="0"/>
          <c:tx>
            <c:strRef>
              <c:f>Sheet1!$B$1</c:f>
              <c:strCache>
                <c:ptCount val="1"/>
                <c:pt idx="0">
                  <c:v>v</c:v>
                </c:pt>
              </c:strCache>
            </c:strRef>
          </c:tx>
          <c:invertIfNegative val="0"/>
          <c:dPt>
            <c:idx val="0"/>
            <c:invertIfNegative val="0"/>
            <c:spPr>
              <a:solidFill>
                <a:srgbClr val="0F766E"/>
              </a:solidFill>
            </c:spPr>
          </c:dPt>
          <c:dPt>
            <c:idx val="1"/>
            <c:invertIfNegative val="0"/>
            <c:spPr>
              <a:solidFill>
                <a:srgbClr val="0F766E"/>
              </a:solidFill>
            </c:spPr>
          </c:dPt>
          <c:dPt>
            <c:idx val="2"/>
            <c:invertIfNegative val="0"/>
            <c:spPr>
              <a:solidFill>
                <a:srgbClr val="0F766E"/>
              </a:solidFill>
            </c:spPr>
          </c:dPt>
          <c:dPt>
            <c:idx val="3"/>
            <c:invertIfNegative val="0"/>
            <c:spPr>
              <a:solidFill>
                <a:srgbClr val="F59E0B"/>
              </a:solidFill>
            </c:spPr>
          </c:dPt>
          <c:dPt>
            <c:idx val="4"/>
            <c:invertIfNegative val="0"/>
            <c:spPr>
              <a:solidFill>
                <a:srgbClr val="0F766E"/>
              </a:solidFill>
            </c:spPr>
          </c:dPt>
          <c:dPt>
            <c:idx val="5"/>
            <c:invertIfNegative val="0"/>
            <c:spPr>
              <a:solidFill>
                <a:srgbClr val="64748B"/>
              </a:solidFill>
            </c:spPr>
          </c:dPt>
          <c:dPt>
            <c:idx val="6"/>
            <c:invertIfNegative val="0"/>
            <c:spPr>
              <a:solidFill>
                <a:srgbClr val="64748B"/>
              </a:solidFill>
            </c:spPr>
          </c:dPt>
          <c:cat>
            <c:strRef>
              <c:f>Sheet1!$A$2:$A$8</c:f>
              <c:strCache>
                <c:ptCount val="7"/>
                <c:pt idx="0">
                  <c:v>IRL-v3 (calibrated)</c:v>
                </c:pt>
                <c:pt idx="1">
                  <c:v>IRL-v3 (raw)</c:v>
                </c:pt>
                <c:pt idx="2">
                  <c:v>IRL-v2 (calibrated)</c:v>
                </c:pt>
                <c:pt idx="3">
                  <c:v>Dijkstra-Shortest</c:v>
                </c:pt>
                <c:pt idx="4">
                  <c:v>IRL-v1 (original feats)</c:v>
                </c:pt>
                <c:pt idx="5">
                  <c:v>Dijkstra-Fastest</c:v>
                </c:pt>
                <c:pt idx="6">
                  <c:v>Myopic classifier</c:v>
                </c:pt>
              </c:strCache>
            </c:strRef>
          </c:cat>
          <c:val>
            <c:numRef>
              <c:f>Sheet1!$B$2:$B$8</c:f>
              <c:numCache>
                <c:formatCode>General</c:formatCode>
                <c:ptCount val="7"/>
                <c:pt idx="0">
                  <c:v>0.682</c:v>
                </c:pt>
                <c:pt idx="1">
                  <c:v>0.659</c:v>
                </c:pt>
                <c:pt idx="2">
                  <c:v>0.648</c:v>
                </c:pt>
                <c:pt idx="3">
                  <c:v>0.636</c:v>
                </c:pt>
                <c:pt idx="4">
                  <c:v>0.611</c:v>
                </c:pt>
                <c:pt idx="5">
                  <c:v>0.454</c:v>
                </c:pt>
                <c:pt idx="6">
                  <c:v>0.162</c:v>
                </c:pt>
              </c:numCache>
            </c:numRef>
          </c:val>
        </c:ser>
        <c:dLbls>
          <c:numFmt formatCode="0.000" sourceLinked="0"/>
          <c:txPr>
            <a:bodyPr/>
            <a:lstStyle/>
            <a:p>
              <a:pPr>
                <a:defRPr sz="1200">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low"/>
        <c:spPr>
          <a:ln>
            <a:solidFill>
              <a:srgbClr val="D6DEEA"/>
            </a:solidFill>
          </a:ln>
        </c:spPr>
        <c:txPr>
          <a:bodyPr/>
          <a:lstStyle/>
          <a:p>
            <a:pPr>
              <a:defRPr sz="1200">
                <a:latin typeface="Calibri"/>
              </a:defRPr>
            </a:pPr>
          </a:p>
        </c:txPr>
        <c:crossAx val="-2113994440"/>
        <c:crosses val="autoZero"/>
        <c:auto val="1"/>
        <c:lblAlgn val="ctr"/>
        <c:lblOffset val="100"/>
        <c:noMultiLvlLbl val="0"/>
      </c:catAx>
      <c:valAx>
        <c:axId val="-2113994440"/>
        <c:scaling>
          <c:max val="0.8"/>
          <c:min val="0.0"/>
        </c:scaling>
        <c:delete val="0"/>
        <c:axPos val="b"/>
        <c:majorGridlines>
          <c:spPr>
            <a:ln>
              <a:solidFill>
                <a:srgbClr val="D6DEEA"/>
              </a:solidFill>
            </a:ln>
          </c:spPr>
        </c:majorGridlines>
        <c:numFmt formatCode="0.000" sourceLinked="0"/>
        <c:majorTickMark val="out"/>
        <c:minorTickMark val="none"/>
        <c:tickLblPos val="nextTo"/>
        <c:spPr>
          <a:ln>
            <a:noFill/>
          </a:ln>
        </c:spPr>
        <c:txPr>
          <a:bodyPr/>
          <a:lstStyle/>
          <a:p>
            <a:pPr>
              <a:defRPr sz="10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B1F3A"/>
                </a:solidFill>
                <a:latin typeface="Calibri"/>
              </a:rPr>
              <a:t>Edge F1, 5-fold CV (mean)</a:t>
            </a:r>
          </a:p>
        </c:rich>
      </c:tx>
      <c:layout/>
      <c:overlay val="0"/>
    </c:title>
    <c:autoTitleDeleted val="0"/>
    <c:plotArea>
      <c:barChart>
        <c:barDir val="bar"/>
        <c:grouping val="clustered"/>
        <c:ser>
          <c:idx val="0"/>
          <c:order val="0"/>
          <c:tx>
            <c:strRef>
              <c:f>Sheet1!$B$1</c:f>
              <c:strCache>
                <c:ptCount val="1"/>
                <c:pt idx="0">
                  <c:v>v</c:v>
                </c:pt>
              </c:strCache>
            </c:strRef>
          </c:tx>
          <c:invertIfNegative val="0"/>
          <c:dPt>
            <c:idx val="0"/>
            <c:invertIfNegative val="0"/>
            <c:spPr>
              <a:solidFill>
                <a:srgbClr val="64748B"/>
              </a:solidFill>
            </c:spPr>
          </c:dPt>
          <c:dPt>
            <c:idx val="1"/>
            <c:invertIfNegative val="0"/>
            <c:spPr>
              <a:solidFill>
                <a:srgbClr val="F59E0B"/>
              </a:solidFill>
            </c:spPr>
          </c:dPt>
          <c:dPt>
            <c:idx val="2"/>
            <c:invertIfNegative val="0"/>
            <c:spPr>
              <a:solidFill>
                <a:srgbClr val="0F766E"/>
              </a:solidFill>
            </c:spPr>
          </c:dPt>
          <c:dPt>
            <c:idx val="3"/>
            <c:invertIfNegative val="0"/>
            <c:spPr>
              <a:solidFill>
                <a:srgbClr val="0F766E"/>
              </a:solidFill>
            </c:spPr>
          </c:dPt>
          <c:dPt>
            <c:idx val="4"/>
            <c:invertIfNegative val="0"/>
            <c:spPr>
              <a:solidFill>
                <a:srgbClr val="2563EB"/>
              </a:solidFill>
            </c:spPr>
          </c:dPt>
          <c:cat>
            <c:strRef>
              <c:f>Sheet1!$A$2:$A$6</c:f>
              <c:strCache>
                <c:ptCount val="5"/>
                <c:pt idx="0">
                  <c:v>Dijkstra-Fastest</c:v>
                </c:pt>
                <c:pt idx="1">
                  <c:v>Dijkstra-Shortest</c:v>
                </c:pt>
                <c:pt idx="2">
                  <c:v>IRL-v3 (raw)</c:v>
                </c:pt>
                <c:pt idx="3">
                  <c:v>IRL-v3 (calibrated)</c:v>
                </c:pt>
                <c:pt idx="4">
                  <c:v>Pop-Shortest</c:v>
                </c:pt>
              </c:strCache>
            </c:strRef>
          </c:cat>
          <c:val>
            <c:numRef>
              <c:f>Sheet1!$B$2:$B$6</c:f>
              <c:numCache>
                <c:formatCode>General</c:formatCode>
                <c:ptCount val="5"/>
                <c:pt idx="0">
                  <c:v>0.478</c:v>
                </c:pt>
                <c:pt idx="1">
                  <c:v>0.63</c:v>
                </c:pt>
                <c:pt idx="2">
                  <c:v>0.655</c:v>
                </c:pt>
                <c:pt idx="3">
                  <c:v>0.669</c:v>
                </c:pt>
                <c:pt idx="4">
                  <c:v>0.671</c:v>
                </c:pt>
              </c:numCache>
            </c:numRef>
          </c:val>
        </c:ser>
        <c:dLbls>
          <c:numFmt formatCode="0.000" sourceLinked="0"/>
          <c:txPr>
            <a:bodyPr/>
            <a:lstStyle/>
            <a:p>
              <a:pPr>
                <a:defRPr sz="1200">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low"/>
        <c:spPr>
          <a:ln>
            <a:solidFill>
              <a:srgbClr val="D6DEEA"/>
            </a:solidFill>
          </a:ln>
        </c:spPr>
        <c:txPr>
          <a:bodyPr/>
          <a:lstStyle/>
          <a:p>
            <a:pPr>
              <a:defRPr sz="1200">
                <a:latin typeface="Calibri"/>
              </a:defRPr>
            </a:pPr>
          </a:p>
        </c:txPr>
        <c:crossAx val="-2113994440"/>
        <c:crosses val="autoZero"/>
        <c:auto val="1"/>
        <c:lblAlgn val="ctr"/>
        <c:lblOffset val="100"/>
        <c:noMultiLvlLbl val="0"/>
      </c:catAx>
      <c:valAx>
        <c:axId val="-2113994440"/>
        <c:scaling>
          <c:max val="0.8"/>
          <c:min val="0.0"/>
        </c:scaling>
        <c:delete val="0"/>
        <c:axPos val="b"/>
        <c:majorGridlines>
          <c:spPr>
            <a:ln>
              <a:solidFill>
                <a:srgbClr val="D6DEEA"/>
              </a:solidFill>
            </a:ln>
          </c:spPr>
        </c:majorGridlines>
        <c:numFmt formatCode="0.000" sourceLinked="0"/>
        <c:majorTickMark val="out"/>
        <c:minorTickMark val="none"/>
        <c:tickLblPos val="nextTo"/>
        <c:spPr>
          <a:ln>
            <a:noFill/>
          </a:ln>
        </c:spPr>
        <c:txPr>
          <a:bodyPr/>
          <a:lstStyle/>
          <a:p>
            <a:pPr>
              <a:defRPr sz="10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B1F3A"/>
                </a:solidFill>
                <a:latin typeface="Calibri"/>
              </a:rPr>
              <a:t>Edge F1 by feature set (600 test trips)</a:t>
            </a:r>
          </a:p>
        </c:rich>
      </c:tx>
      <c:layout/>
      <c:overlay val="0"/>
    </c:title>
    <c:autoTitleDeleted val="0"/>
    <c:plotArea>
      <c:barChart>
        <c:barDir val="col"/>
        <c:grouping val="clustered"/>
        <c:ser>
          <c:idx val="0"/>
          <c:order val="0"/>
          <c:tx>
            <c:strRef>
              <c:f>Sheet1!$B$1</c:f>
              <c:strCache>
                <c:ptCount val="1"/>
                <c:pt idx="0">
                  <c:v>Edge F1</c:v>
                </c:pt>
              </c:strCache>
            </c:strRef>
          </c:tx>
          <c:dPt>
            <c:idx val="0"/>
            <c:spPr>
              <a:solidFill>
                <a:srgbClr val="64748B"/>
              </a:solidFill>
            </c:spPr>
          </c:dPt>
          <c:dPt>
            <c:idx val="1"/>
            <c:spPr>
              <a:solidFill>
                <a:srgbClr val="64748B"/>
              </a:solidFill>
            </c:spPr>
          </c:dPt>
          <c:dPt>
            <c:idx val="2"/>
            <c:spPr>
              <a:solidFill>
                <a:srgbClr val="0F766E"/>
              </a:solidFill>
            </c:spPr>
          </c:dPt>
          <c:dPt>
            <c:idx val="3"/>
            <c:spPr>
              <a:solidFill>
                <a:srgbClr val="0F766E"/>
              </a:solidFill>
            </c:spPr>
          </c:dPt>
          <c:dPt>
            <c:idx val="4"/>
            <c:spPr>
              <a:solidFill>
                <a:srgbClr val="15803D"/>
              </a:solidFill>
            </c:spPr>
          </c:dPt>
          <c:cat>
            <c:strRef>
              <c:f>Sheet1!$A$2:$A$6</c:f>
              <c:strCache>
                <c:ptCount val="5"/>
                <c:pt idx="0">
                  <c:v>v1</c:v>
                </c:pt>
                <c:pt idx="1">
                  <c:v>v2 raw</c:v>
                </c:pt>
                <c:pt idx="2">
                  <c:v>v2 calibrated</c:v>
                </c:pt>
                <c:pt idx="3">
                  <c:v>v3 raw</c:v>
                </c:pt>
                <c:pt idx="4">
                  <c:v>v3 calibrated</c:v>
                </c:pt>
              </c:strCache>
            </c:strRef>
          </c:cat>
          <c:val>
            <c:numRef>
              <c:f>Sheet1!$B$2:$B$6</c:f>
              <c:numCache>
                <c:formatCode>General</c:formatCode>
                <c:ptCount val="5"/>
                <c:pt idx="0">
                  <c:v>0.611</c:v>
                </c:pt>
                <c:pt idx="1">
                  <c:v>0.606</c:v>
                </c:pt>
                <c:pt idx="2">
                  <c:v>0.648</c:v>
                </c:pt>
                <c:pt idx="3">
                  <c:v>0.659</c:v>
                </c:pt>
                <c:pt idx="4">
                  <c:v>0.682</c:v>
                </c:pt>
              </c:numCache>
            </c:numRef>
          </c:val>
        </c:ser>
        <c:dLbls>
          <c:numFmt formatCode="0.00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0.72"/>
          <c:min val="0.5"/>
        </c:scaling>
        <c:delete val="0"/>
        <c:axPos val="l"/>
        <c:majorGridlines>
          <c:spPr>
            <a:ln>
              <a:solidFill>
                <a:srgbClr val="D6DEEA"/>
              </a:solidFill>
            </a:ln>
          </c:spPr>
        </c:majorGridlines>
        <c:numFmt formatCode="0.00" sourceLinked="0"/>
        <c:majorTickMark val="out"/>
        <c:minorTickMark val="none"/>
        <c:tickLblPos val="nextTo"/>
        <c:txPr>
          <a:bodyPr/>
          <a:lstStyle/>
          <a:p>
            <a:pPr>
              <a:defRPr sz="10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B1F3A"/>
                </a:solidFill>
                <a:latin typeface="Calibri"/>
              </a:rPr>
              <a:t>Change in edge F1 vs full model (0.682)</a:t>
            </a:r>
          </a:p>
        </c:rich>
      </c:tx>
      <c:layout/>
      <c:overlay val="0"/>
    </c:title>
    <c:autoTitleDeleted val="0"/>
    <c:plotArea>
      <c:barChart>
        <c:barDir val="bar"/>
        <c:grouping val="clustered"/>
        <c:ser>
          <c:idx val="0"/>
          <c:order val="0"/>
          <c:tx>
            <c:strRef>
              <c:f>Sheet1!$B$1</c:f>
              <c:strCache>
                <c:ptCount val="1"/>
                <c:pt idx="0">
                  <c:v>v</c:v>
                </c:pt>
              </c:strCache>
            </c:strRef>
          </c:tx>
          <c:invertIfNegative val="0"/>
          <c:dPt>
            <c:idx val="0"/>
            <c:invertIfNegative val="0"/>
            <c:spPr>
              <a:solidFill>
                <a:srgbClr val="B91C1C"/>
              </a:solidFill>
            </c:spPr>
          </c:dPt>
          <c:dPt>
            <c:idx val="1"/>
            <c:invertIfNegative val="0"/>
            <c:spPr>
              <a:solidFill>
                <a:srgbClr val="B91C1C"/>
              </a:solidFill>
            </c:spPr>
          </c:dPt>
          <c:dPt>
            <c:idx val="2"/>
            <c:invertIfNegative val="0"/>
            <c:spPr>
              <a:solidFill>
                <a:srgbClr val="64748B"/>
              </a:solidFill>
            </c:spPr>
          </c:dPt>
          <c:dPt>
            <c:idx val="3"/>
            <c:invertIfNegative val="0"/>
            <c:spPr>
              <a:solidFill>
                <a:srgbClr val="64748B"/>
              </a:solidFill>
            </c:spPr>
          </c:dPt>
          <c:dPt>
            <c:idx val="4"/>
            <c:invertIfNegative val="0"/>
            <c:spPr>
              <a:solidFill>
                <a:srgbClr val="F59E0B"/>
              </a:solidFill>
            </c:spPr>
          </c:dPt>
          <c:cat>
            <c:strRef>
              <c:f>Sheet1!$A$2:$A$6</c:f>
              <c:strCache>
                <c:ptCount val="5"/>
                <c:pt idx="0">
                  <c:v>no familiarity</c:v>
                </c:pt>
                <c:pt idx="1">
                  <c:v>no step cost</c:v>
                </c:pt>
                <c:pt idx="2">
                  <c:v>no goal direction</c:v>
                </c:pt>
                <c:pt idx="3">
                  <c:v>no road class</c:v>
                </c:pt>
                <c:pt idx="4">
                  <c:v>no turn features</c:v>
                </c:pt>
              </c:strCache>
            </c:strRef>
          </c:cat>
          <c:val>
            <c:numRef>
              <c:f>Sheet1!$B$2:$B$6</c:f>
              <c:numCache>
                <c:formatCode>General</c:formatCode>
                <c:ptCount val="5"/>
                <c:pt idx="0">
                  <c:v>-0.034</c:v>
                </c:pt>
                <c:pt idx="1">
                  <c:v>-0.016</c:v>
                </c:pt>
                <c:pt idx="2">
                  <c:v>-0.001</c:v>
                </c:pt>
                <c:pt idx="3">
                  <c:v>0.001</c:v>
                </c:pt>
                <c:pt idx="4">
                  <c:v>0.011</c:v>
                </c:pt>
              </c:numCache>
            </c:numRef>
          </c:val>
        </c:ser>
        <c:dLbls>
          <c:numFmt formatCode="+0.000;-0.000" sourceLinked="0"/>
          <c:txPr>
            <a:bodyPr/>
            <a:lstStyle/>
            <a:p>
              <a:pPr>
                <a:defRPr sz="1200">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low"/>
        <c:spPr>
          <a:ln>
            <a:solidFill>
              <a:srgbClr val="D6DEEA"/>
            </a:solidFill>
          </a:ln>
        </c:spPr>
        <c:txPr>
          <a:bodyPr/>
          <a:lstStyle/>
          <a:p>
            <a:pPr>
              <a:defRPr sz="1200">
                <a:latin typeface="Calibri"/>
              </a:defRPr>
            </a:pPr>
          </a:p>
        </c:txPr>
        <c:crossAx val="-2113994440"/>
        <c:crosses val="autoZero"/>
        <c:auto val="1"/>
        <c:lblAlgn val="ctr"/>
        <c:lblOffset val="100"/>
        <c:noMultiLvlLbl val="0"/>
      </c:catAx>
      <c:valAx>
        <c:axId val="-2113994440"/>
        <c:scaling>
          <c:max val="0.03"/>
          <c:min val="-0.05"/>
        </c:scaling>
        <c:delete val="0"/>
        <c:axPos val="b"/>
        <c:majorGridlines>
          <c:spPr>
            <a:ln>
              <a:solidFill>
                <a:srgbClr val="D6DEEA"/>
              </a:solidFill>
            </a:ln>
          </c:spPr>
        </c:majorGridlines>
        <c:numFmt formatCode="+0.000;-0.000" sourceLinked="0"/>
        <c:majorTickMark val="out"/>
        <c:minorTickMark val="none"/>
        <c:tickLblPos val="nextTo"/>
        <c:spPr>
          <a:ln>
            <a:noFill/>
          </a:ln>
        </c:spPr>
        <c:txPr>
          <a:bodyPr/>
          <a:lstStyle/>
          <a:p>
            <a:pPr>
              <a:defRPr sz="10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B1F3A"/>
                </a:solidFill>
                <a:latin typeface="Calibri"/>
              </a:rPr>
              <a:t>Change in trip NLL (higher = worse), full = 5.46</a:t>
            </a:r>
          </a:p>
        </c:rich>
      </c:tx>
      <c:layout/>
      <c:overlay val="0"/>
    </c:title>
    <c:autoTitleDeleted val="0"/>
    <c:plotArea>
      <c:barChart>
        <c:barDir val="bar"/>
        <c:grouping val="clustered"/>
        <c:ser>
          <c:idx val="0"/>
          <c:order val="0"/>
          <c:tx>
            <c:strRef>
              <c:f>Sheet1!$B$1</c:f>
              <c:strCache>
                <c:ptCount val="1"/>
                <c:pt idx="0">
                  <c:v>v</c:v>
                </c:pt>
              </c:strCache>
            </c:strRef>
          </c:tx>
          <c:invertIfNegative val="0"/>
          <c:dPt>
            <c:idx val="0"/>
            <c:invertIfNegative val="0"/>
            <c:spPr>
              <a:solidFill>
                <a:srgbClr val="B91C1C"/>
              </a:solidFill>
            </c:spPr>
          </c:dPt>
          <c:dPt>
            <c:idx val="1"/>
            <c:invertIfNegative val="0"/>
            <c:spPr>
              <a:solidFill>
                <a:srgbClr val="B91C1C"/>
              </a:solidFill>
            </c:spPr>
          </c:dPt>
          <c:dPt>
            <c:idx val="2"/>
            <c:invertIfNegative val="0"/>
            <c:spPr>
              <a:solidFill>
                <a:srgbClr val="64748B"/>
              </a:solidFill>
            </c:spPr>
          </c:dPt>
          <c:dPt>
            <c:idx val="3"/>
            <c:invertIfNegative val="0"/>
            <c:spPr>
              <a:solidFill>
                <a:srgbClr val="64748B"/>
              </a:solidFill>
            </c:spPr>
          </c:dPt>
          <c:dPt>
            <c:idx val="4"/>
            <c:invertIfNegative val="0"/>
            <c:spPr>
              <a:solidFill>
                <a:srgbClr val="B91C1C"/>
              </a:solidFill>
            </c:spPr>
          </c:dPt>
          <c:cat>
            <c:strRef>
              <c:f>Sheet1!$A$2:$A$6</c:f>
              <c:strCache>
                <c:ptCount val="5"/>
                <c:pt idx="0">
                  <c:v>no familiarity</c:v>
                </c:pt>
                <c:pt idx="1">
                  <c:v>no step cost</c:v>
                </c:pt>
                <c:pt idx="2">
                  <c:v>no goal direction</c:v>
                </c:pt>
                <c:pt idx="3">
                  <c:v>no road class</c:v>
                </c:pt>
                <c:pt idx="4">
                  <c:v>no turn features</c:v>
                </c:pt>
              </c:strCache>
            </c:strRef>
          </c:cat>
          <c:val>
            <c:numRef>
              <c:f>Sheet1!$B$2:$B$6</c:f>
              <c:numCache>
                <c:formatCode>General</c:formatCode>
                <c:ptCount val="5"/>
                <c:pt idx="0">
                  <c:v>0.6</c:v>
                </c:pt>
                <c:pt idx="1">
                  <c:v>0.25</c:v>
                </c:pt>
                <c:pt idx="2">
                  <c:v>0.04</c:v>
                </c:pt>
                <c:pt idx="3">
                  <c:v>0.05</c:v>
                </c:pt>
                <c:pt idx="4">
                  <c:v>1.78</c:v>
                </c:pt>
              </c:numCache>
            </c:numRef>
          </c:val>
        </c:ser>
        <c:dLbls>
          <c:numFmt formatCode="+0.00" sourceLinked="0"/>
          <c:txPr>
            <a:bodyPr/>
            <a:lstStyle/>
            <a:p>
              <a:pPr>
                <a:defRPr sz="1200">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low"/>
        <c:spPr>
          <a:ln>
            <a:solidFill>
              <a:srgbClr val="D6DEEA"/>
            </a:solidFill>
          </a:ln>
        </c:spPr>
        <c:txPr>
          <a:bodyPr/>
          <a:lstStyle/>
          <a:p>
            <a:pPr>
              <a:defRPr sz="1200">
                <a:latin typeface="Calibri"/>
              </a:defRPr>
            </a:pPr>
          </a:p>
        </c:txPr>
        <c:crossAx val="-2113994440"/>
        <c:crosses val="autoZero"/>
        <c:auto val="1"/>
        <c:lblAlgn val="ctr"/>
        <c:lblOffset val="100"/>
        <c:noMultiLvlLbl val="0"/>
      </c:catAx>
      <c:valAx>
        <c:axId val="-2113994440"/>
        <c:scaling>
          <c:max val="2.2"/>
          <c:min val="0.0"/>
        </c:scaling>
        <c:delete val="0"/>
        <c:axPos val="b"/>
        <c:majorGridlines>
          <c:spPr>
            <a:ln>
              <a:solidFill>
                <a:srgbClr val="D6DEEA"/>
              </a:solidFill>
            </a:ln>
          </c:spPr>
        </c:majorGridlines>
        <c:numFmt formatCode="+0.00" sourceLinked="0"/>
        <c:majorTickMark val="out"/>
        <c:minorTickMark val="none"/>
        <c:tickLblPos val="nextTo"/>
        <c:spPr>
          <a:ln>
            <a:noFill/>
          </a:ln>
        </c:spPr>
        <c:txPr>
          <a:bodyPr/>
          <a:lstStyle/>
          <a:p>
            <a:pPr>
              <a:defRPr sz="10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hook: nobody drives the shortest route, so what are drivers optimising? We learn their hidden reward from real GPS data using Maximum Entropy Inverse RL. Headline: on 600 held-out Porto trips our model reaches edge F1 0.682 vs 0.636 for Dijkstra shortest path, and predicts the next road with 93.7% top-1 accuracy. We will be honest about where the gain is modest.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Shortest and fastest routes optimise one fixed number. Real taxi drivers trade off distance, turns, road familiarity. Those preferences are not written anywhere: that is why we need Inverse RL — observe behaviour, recover the reward.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quickly. Ziebart AAAI 2008 is our base method (MaxEnt IRL on Pittsburgh taxis, private data). Abbeel &amp; Ng ICML 2004 is feature matching. Wulfmeier 2015 and Finn ICML 2016 are non-linear, sample-based extensions. McFadden logit is the econometric route-choice tradition; Dijkstra/A* is our baseline. Newson &amp; Krumm is our map-matching. Venue details should be double-checked against the papers.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honesty: this is not a new algorithm. The contribution is an open, reproducible, statistically careful study on public data, with an identifiable feature set including goal direction and familiarity, plus an explainable demo. Say where others are stronger: Ziebart has a larger network, Wulfmeier more expressive rewards, Finn continuous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course notes as the anchor: tuple S, A, P, R, gamma; terminal states plus and minus 2 in the grid. Ours: state is the incoming edge which fixes node and heading; actions are outgoing roads; transitions are deterministic; reward is w transpose phi, unknown and learned; gamma one with horizon 80. Positive terminal = destination, negative terminal = dead ends (value minus infinity, never chosen).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diagram left to right. Circles are states (incoming road edges), diamonds are actions (choose an outgoing road), arrows from diamonds carry P=1 and the reward. Green double circle is the destination: the positive terminal. Red is a dead end: the negative terminal with value minus infinity so the policy never enters it. At S1 the model prefers the straight arterial (0.68), sometimes the side street (0.31), almost never the U-turn (0.01). The +5 goal bonus is a constant per trip, so the policy is unchanged. Toy topology; the weights are the real learned ones.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learned weights from the final v3 model (single split). Sharp turns are strongly avoided, familiar edges strongly preferred, hop cost and slight turns penalised, moving away from the goal penalised. Note length and travel time are correlated (0.81), so read those two together; the earlier feature set was unidentifiable because of collinear one-hots, which we fixed with reference levels and a per-step constant.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Outer loop: L-BFGS on weights w. Inner loop per destination: backward pass is soft value iteration, giving V and Q — dynamic programming control. Forward pass computes expected state visitation — dynamic programming prediction. Gradient is expected minus expert feature counts plus L2. Exact because the MDP is small, discrete and deterministic, no sampling. Then the most likely route is extracted with Viterbi/Dijkstra on V minus Q. Training about 13 minutes per CV fold on CPU.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Porto ECML/PKDD 2015 taxi dataset, 1.7M raw trips; we filtered to central Porto and map-matched with an HMM (Leuven MapMatching): only 40% of attempted trips matched, 3,000 used. Graph from OSM, 3,367 nodes, 6,784 directed edges. Be upfront: matching errors are treated as ground truth. Familiarity counts come from a separate disjoint pool of trips to avoid leakage.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baselines. Dijkstra shortest is the strong one on taxi data. Pop-Shortest is a popularity-discounted shortest path — a simple non-IRL baseline that turned out to tie us in cross-validation, which we report honestly. Metrics: edge Jaccard and F1 for route overlap; top-k junction accuracy and log-likelihood for the probabilistic model; bootstrap CIs and paired Wilcoxon tests.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split, 600 held-out Porto trips. Calibrated IRL v3 gets edge F1 0.682 (95% CI 0.657-0.708) against 0.636 for Dijkstra shortest; paired p = 2.7e-5. Raw v3 without calibration is 0.659 (p = 0.06). Fastest is 0.454, myopic 0.162. Also point out the v1 original features lost to shortest (0.611) — that is why we redesigned the features.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5-fold CV, mean over folds. IRL v3 calibrated 0.669 plus or minus 0.010 versus Dijkstra shortest 0.630 plus or minus 0.003. But Pop-Shortest, a simple popularity-weighted shortest path, scores 0.671 — it ties us. So the honest reading: much of the improvement comes from the familiarity signal, and IRL's added value is a calibrated probabilistic route model with interpretable weights, not a higher F1.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ablation of the modelling choices. v1 original features lost to Dijkstra. v2 made the parameterisation identifiable and added goal-direction; the likelihood improved only slightly. Calibration with a length penalty lifted F1. v3 added edge familiarity, which gave the largest likelihood gain — NLL 6.06 to 5.46 — and the best F1.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feature-group ablations, each retrained from scratch on the same 600 test trips. Removing familiarity costs the most F1 (-0.034) and NLL (+0.60). Removing turn features collapses the likelihood (NLL +1.78) yet F1 slightly rises: validation chose a bigger length penalty for that model; route overlap and likelihood disagree there. Goal direction and road class add almost nothing. Caveat: single split, one seed; F1 CI is about plus or minus 0.025, so only familiarity clearly exceeds noise; NLL is the cleaner signal.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script: open localhost:5000. Click Random trip or type a street name like Avenida da Boavista as start and Rua da Ribeira Negra as destination. Four routes appear: learned, shortest, fastest, and the real driver (dashed green). Click the learned route to open the Why panel: the reward is linear, so each feature's contribution is exact — e.g. fewer segments, motorway use and slight turns. Caveat: this explains the model, not the driver's intent. Names come from the OSM graph; landmark search would need an external geocoder.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modest gain over strong baselines, popularity baseline ties us, single seed, one city, one reward for all drivers, map matching noise. The deck's value is a reproducible, interpretable benchmark and a clear picture of what drives route choice.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in three sentences: we learned an interpretable reward from real taxi data; it beats shortest path significantly but modestly and is tied by a popularity baseline; the main value is the exact, reproducible, explainable pipeline. Future: seeds and sample curves, nonlinear/context rewards, more cities, unknown destination.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 venue and page details against the originals before final submission.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5.xml"/><Relationship Id="rId4"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731520" y="1097280"/>
            <a:ext cx="10515600" cy="365760"/>
          </a:xfrm>
          <a:prstGeom prst="rect">
            <a:avLst/>
          </a:prstGeom>
          <a:noFill/>
        </p:spPr>
        <p:txBody>
          <a:bodyPr wrap="square" lIns="45720" rIns="45720" tIns="27432" bIns="27432" anchor="t">
            <a:spAutoFit/>
          </a:bodyPr>
          <a:lstStyle/>
          <a:p>
            <a:pPr algn="l"/>
            <a:r>
              <a:rPr sz="1300" b="1" i="0">
                <a:solidFill>
                  <a:srgbClr val="F59E0B"/>
                </a:solidFill>
                <a:latin typeface="Calibri"/>
              </a:rPr>
              <a:t>22AIE401 · REINFORCEMENT LEARNING · AMRITA VISHWA VIDYAPEETHAM, AMRITAPURI</a:t>
            </a:r>
          </a:p>
        </p:txBody>
      </p:sp>
      <p:sp>
        <p:nvSpPr>
          <p:cNvPr id="3" name="TextBox 2"/>
          <p:cNvSpPr txBox="1"/>
          <p:nvPr/>
        </p:nvSpPr>
        <p:spPr>
          <a:xfrm>
            <a:off x="731520" y="1691640"/>
            <a:ext cx="10698480" cy="1828800"/>
          </a:xfrm>
          <a:prstGeom prst="rect">
            <a:avLst/>
          </a:prstGeom>
          <a:noFill/>
        </p:spPr>
        <p:txBody>
          <a:bodyPr wrap="square" lIns="45720" rIns="45720" tIns="27432" bIns="27432" anchor="t">
            <a:spAutoFit/>
          </a:bodyPr>
          <a:lstStyle/>
          <a:p>
            <a:pPr algn="l"/>
            <a:r>
              <a:rPr sz="3800" b="1" i="0">
                <a:solidFill>
                  <a:srgbClr val="FFFFFF"/>
                </a:solidFill>
                <a:latin typeface="Cambria"/>
              </a:rPr>
              <a:t>Why Nobody Drives the Shortest Route:</a:t>
            </a:r>
          </a:p>
          <a:p>
            <a:pPr algn="l"/>
            <a:r>
              <a:rPr sz="3800" b="1" i="0">
                <a:solidFill>
                  <a:srgbClr val="FFFFFF"/>
                </a:solidFill>
                <a:latin typeface="Cambria"/>
              </a:rPr>
              <a:t>Learning Taxi Route Preferences with Maximum Entropy Inverse RL</a:t>
            </a:r>
          </a:p>
        </p:txBody>
      </p:sp>
      <p:sp>
        <p:nvSpPr>
          <p:cNvPr id="4" name="TextBox 3"/>
          <p:cNvSpPr txBox="1"/>
          <p:nvPr/>
        </p:nvSpPr>
        <p:spPr>
          <a:xfrm>
            <a:off x="731520" y="3749039"/>
            <a:ext cx="10515600" cy="822960"/>
          </a:xfrm>
          <a:prstGeom prst="rect">
            <a:avLst/>
          </a:prstGeom>
          <a:noFill/>
        </p:spPr>
        <p:txBody>
          <a:bodyPr wrap="square" lIns="45720" rIns="45720" tIns="27432" bIns="27432" anchor="t">
            <a:spAutoFit/>
          </a:bodyPr>
          <a:lstStyle/>
          <a:p>
            <a:pPr algn="l"/>
            <a:r>
              <a:rPr sz="2000" b="0" i="0">
                <a:solidFill>
                  <a:srgbClr val="CBD5E1"/>
                </a:solidFill>
                <a:latin typeface="Calibri"/>
              </a:rPr>
              <a:t>Recovering interpretable driver preferences from real Porto taxi GPS trips on an OpenStreetMap road graph</a:t>
            </a:r>
          </a:p>
        </p:txBody>
      </p:sp>
      <p:sp>
        <p:nvSpPr>
          <p:cNvPr id="5" name="TextBox 4"/>
          <p:cNvSpPr txBox="1"/>
          <p:nvPr/>
        </p:nvSpPr>
        <p:spPr>
          <a:xfrm>
            <a:off x="731520" y="4983480"/>
            <a:ext cx="2651760" cy="548640"/>
          </a:xfrm>
          <a:prstGeom prst="rect">
            <a:avLst/>
          </a:prstGeom>
          <a:noFill/>
        </p:spPr>
        <p:txBody>
          <a:bodyPr wrap="square" lIns="45720" rIns="45720" tIns="27432" bIns="27432" anchor="t">
            <a:spAutoFit/>
          </a:bodyPr>
          <a:lstStyle/>
          <a:p>
            <a:pPr algn="l"/>
            <a:r>
              <a:rPr sz="3200" b="1" i="0">
                <a:solidFill>
                  <a:srgbClr val="F59E0B"/>
                </a:solidFill>
                <a:latin typeface="Cambria"/>
              </a:rPr>
              <a:t>3,000</a:t>
            </a:r>
          </a:p>
        </p:txBody>
      </p:sp>
      <p:sp>
        <p:nvSpPr>
          <p:cNvPr id="6" name="TextBox 5"/>
          <p:cNvSpPr txBox="1"/>
          <p:nvPr/>
        </p:nvSpPr>
        <p:spPr>
          <a:xfrm>
            <a:off x="731520" y="5532120"/>
            <a:ext cx="2560320" cy="548640"/>
          </a:xfrm>
          <a:prstGeom prst="rect">
            <a:avLst/>
          </a:prstGeom>
          <a:noFill/>
        </p:spPr>
        <p:txBody>
          <a:bodyPr wrap="square" lIns="45720" rIns="45720" tIns="27432" bIns="27432" anchor="t">
            <a:spAutoFit/>
          </a:bodyPr>
          <a:lstStyle/>
          <a:p>
            <a:pPr algn="l"/>
            <a:r>
              <a:rPr sz="1300" b="0" i="0">
                <a:solidFill>
                  <a:srgbClr val="CBD5E1"/>
                </a:solidFill>
                <a:latin typeface="Calibri"/>
              </a:rPr>
              <a:t>real map-matched taxi trips</a:t>
            </a:r>
          </a:p>
        </p:txBody>
      </p:sp>
      <p:sp>
        <p:nvSpPr>
          <p:cNvPr id="7" name="TextBox 6"/>
          <p:cNvSpPr txBox="1"/>
          <p:nvPr/>
        </p:nvSpPr>
        <p:spPr>
          <a:xfrm>
            <a:off x="3520439" y="4983480"/>
            <a:ext cx="2651760" cy="548640"/>
          </a:xfrm>
          <a:prstGeom prst="rect">
            <a:avLst/>
          </a:prstGeom>
          <a:noFill/>
        </p:spPr>
        <p:txBody>
          <a:bodyPr wrap="square" lIns="45720" rIns="45720" tIns="27432" bIns="27432" anchor="t">
            <a:spAutoFit/>
          </a:bodyPr>
          <a:lstStyle/>
          <a:p>
            <a:pPr algn="l"/>
            <a:r>
              <a:rPr sz="3200" b="1" i="0">
                <a:solidFill>
                  <a:srgbClr val="F59E0B"/>
                </a:solidFill>
                <a:latin typeface="Cambria"/>
              </a:rPr>
              <a:t>11</a:t>
            </a:r>
          </a:p>
        </p:txBody>
      </p:sp>
      <p:sp>
        <p:nvSpPr>
          <p:cNvPr id="8" name="TextBox 7"/>
          <p:cNvSpPr txBox="1"/>
          <p:nvPr/>
        </p:nvSpPr>
        <p:spPr>
          <a:xfrm>
            <a:off x="3520439" y="5532120"/>
            <a:ext cx="2560320" cy="548640"/>
          </a:xfrm>
          <a:prstGeom prst="rect">
            <a:avLst/>
          </a:prstGeom>
          <a:noFill/>
        </p:spPr>
        <p:txBody>
          <a:bodyPr wrap="square" lIns="45720" rIns="45720" tIns="27432" bIns="27432" anchor="t">
            <a:spAutoFit/>
          </a:bodyPr>
          <a:lstStyle/>
          <a:p>
            <a:pPr algn="l"/>
            <a:r>
              <a:rPr sz="1300" b="0" i="0">
                <a:solidFill>
                  <a:srgbClr val="CBD5E1"/>
                </a:solidFill>
                <a:latin typeface="Calibri"/>
              </a:rPr>
              <a:t>interpretable reward features</a:t>
            </a:r>
          </a:p>
        </p:txBody>
      </p:sp>
      <p:sp>
        <p:nvSpPr>
          <p:cNvPr id="9" name="TextBox 8"/>
          <p:cNvSpPr txBox="1"/>
          <p:nvPr/>
        </p:nvSpPr>
        <p:spPr>
          <a:xfrm>
            <a:off x="6309359" y="4983480"/>
            <a:ext cx="2651760" cy="548640"/>
          </a:xfrm>
          <a:prstGeom prst="rect">
            <a:avLst/>
          </a:prstGeom>
          <a:noFill/>
        </p:spPr>
        <p:txBody>
          <a:bodyPr wrap="square" lIns="45720" rIns="45720" tIns="27432" bIns="27432" anchor="t">
            <a:spAutoFit/>
          </a:bodyPr>
          <a:lstStyle/>
          <a:p>
            <a:pPr algn="l"/>
            <a:r>
              <a:rPr sz="3200" b="1" i="0">
                <a:solidFill>
                  <a:srgbClr val="F59E0B"/>
                </a:solidFill>
                <a:latin typeface="Cambria"/>
              </a:rPr>
              <a:t>0.682</a:t>
            </a:r>
          </a:p>
        </p:txBody>
      </p:sp>
      <p:sp>
        <p:nvSpPr>
          <p:cNvPr id="10" name="TextBox 9"/>
          <p:cNvSpPr txBox="1"/>
          <p:nvPr/>
        </p:nvSpPr>
        <p:spPr>
          <a:xfrm>
            <a:off x="6309359" y="5532120"/>
            <a:ext cx="2560320" cy="548640"/>
          </a:xfrm>
          <a:prstGeom prst="rect">
            <a:avLst/>
          </a:prstGeom>
          <a:noFill/>
        </p:spPr>
        <p:txBody>
          <a:bodyPr wrap="square" lIns="45720" rIns="45720" tIns="27432" bIns="27432" anchor="t">
            <a:spAutoFit/>
          </a:bodyPr>
          <a:lstStyle/>
          <a:p>
            <a:pPr algn="l"/>
            <a:r>
              <a:rPr sz="1300" b="0" i="0">
                <a:solidFill>
                  <a:srgbClr val="CBD5E1"/>
                </a:solidFill>
                <a:latin typeface="Calibri"/>
              </a:rPr>
              <a:t>edge F1 vs 0.636 for shortest path</a:t>
            </a:r>
          </a:p>
        </p:txBody>
      </p:sp>
      <p:sp>
        <p:nvSpPr>
          <p:cNvPr id="11" name="TextBox 10"/>
          <p:cNvSpPr txBox="1"/>
          <p:nvPr/>
        </p:nvSpPr>
        <p:spPr>
          <a:xfrm>
            <a:off x="9098280" y="4983480"/>
            <a:ext cx="2651760" cy="548640"/>
          </a:xfrm>
          <a:prstGeom prst="rect">
            <a:avLst/>
          </a:prstGeom>
          <a:noFill/>
        </p:spPr>
        <p:txBody>
          <a:bodyPr wrap="square" lIns="45720" rIns="45720" tIns="27432" bIns="27432" anchor="t">
            <a:spAutoFit/>
          </a:bodyPr>
          <a:lstStyle/>
          <a:p>
            <a:pPr algn="l"/>
            <a:r>
              <a:rPr sz="3200" b="1" i="0">
                <a:solidFill>
                  <a:srgbClr val="F59E0B"/>
                </a:solidFill>
                <a:latin typeface="Cambria"/>
              </a:rPr>
              <a:t>93.7%</a:t>
            </a:r>
          </a:p>
        </p:txBody>
      </p:sp>
      <p:sp>
        <p:nvSpPr>
          <p:cNvPr id="12" name="TextBox 11"/>
          <p:cNvSpPr txBox="1"/>
          <p:nvPr/>
        </p:nvSpPr>
        <p:spPr>
          <a:xfrm>
            <a:off x="9098280" y="5532120"/>
            <a:ext cx="2560320" cy="548640"/>
          </a:xfrm>
          <a:prstGeom prst="rect">
            <a:avLst/>
          </a:prstGeom>
          <a:noFill/>
        </p:spPr>
        <p:txBody>
          <a:bodyPr wrap="square" lIns="45720" rIns="45720" tIns="27432" bIns="27432" anchor="t">
            <a:spAutoFit/>
          </a:bodyPr>
          <a:lstStyle/>
          <a:p>
            <a:pPr algn="l"/>
            <a:r>
              <a:rPr sz="1300" b="0" i="0">
                <a:solidFill>
                  <a:srgbClr val="CBD5E1"/>
                </a:solidFill>
                <a:latin typeface="Calibri"/>
              </a:rPr>
              <a:t>top-1 junction accuracy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PROBLEM &amp; MOTIVATION</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Apps assume one metric; real drivers do not</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2</a:t>
            </a:r>
          </a:p>
        </p:txBody>
      </p:sp>
      <p:sp>
        <p:nvSpPr>
          <p:cNvPr id="5" name="Rounded Rectangle 4"/>
          <p:cNvSpPr/>
          <p:nvPr/>
        </p:nvSpPr>
        <p:spPr>
          <a:xfrm>
            <a:off x="548640" y="1463040"/>
            <a:ext cx="5486400" cy="448056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5029200" cy="365760"/>
          </a:xfrm>
          <a:prstGeom prst="rect">
            <a:avLst/>
          </a:prstGeom>
          <a:noFill/>
        </p:spPr>
        <p:txBody>
          <a:bodyPr wrap="square" lIns="45720" rIns="45720" tIns="27432" bIns="27432" anchor="t">
            <a:spAutoFit/>
          </a:bodyPr>
          <a:lstStyle/>
          <a:p>
            <a:pPr algn="l"/>
            <a:r>
              <a:rPr sz="2000" b="1" i="0">
                <a:solidFill>
                  <a:srgbClr val="0B1F3A"/>
                </a:solidFill>
                <a:latin typeface="Cambria"/>
              </a:rPr>
              <a:t>The gap</a:t>
            </a:r>
          </a:p>
        </p:txBody>
      </p:sp>
      <p:sp>
        <p:nvSpPr>
          <p:cNvPr id="7" name="TextBox 6"/>
          <p:cNvSpPr txBox="1"/>
          <p:nvPr/>
        </p:nvSpPr>
        <p:spPr>
          <a:xfrm>
            <a:off x="777240" y="2103120"/>
            <a:ext cx="5029200" cy="3657600"/>
          </a:xfrm>
          <a:prstGeom prst="rect">
            <a:avLst/>
          </a:prstGeom>
          <a:noFill/>
        </p:spPr>
        <p:txBody>
          <a:bodyPr wrap="square" lIns="45720">
            <a:spAutoFit/>
          </a:bodyPr>
          <a:lstStyle/>
          <a:p>
            <a:pPr>
              <a:spcAft>
                <a:spcPts val="600"/>
              </a:spcAft>
            </a:pPr>
            <a:r>
              <a:rPr b="1" sz="1600">
                <a:solidFill>
                  <a:srgbClr val="0F766E"/>
                </a:solidFill>
                <a:latin typeface="Calibri"/>
              </a:rPr>
              <a:t>▪ Shortest / fastest path</a:t>
            </a:r>
            <a:r>
              <a:rPr sz="1600">
                <a:solidFill>
                  <a:srgbClr val="1F2937"/>
                </a:solidFill>
                <a:latin typeface="Calibri"/>
              </a:rPr>
              <a:t> one fixed metric, no driver comfort or habits</a:t>
            </a:r>
          </a:p>
          <a:p>
            <a:pPr>
              <a:spcAft>
                <a:spcPts val="600"/>
              </a:spcAft>
            </a:pPr>
            <a:r>
              <a:rPr b="1" sz="1600">
                <a:solidFill>
                  <a:srgbClr val="0F766E"/>
                </a:solidFill>
                <a:latin typeface="Calibri"/>
              </a:rPr>
              <a:t>▪ Preferences are hidden</a:t>
            </a:r>
            <a:r>
              <a:rPr sz="1600">
                <a:solidFill>
                  <a:srgbClr val="1F2937"/>
                </a:solidFill>
                <a:latin typeface="Calibri"/>
              </a:rPr>
              <a:t> drivers cannot articulate their own rules</a:t>
            </a:r>
          </a:p>
          <a:p>
            <a:pPr>
              <a:spcAft>
                <a:spcPts val="600"/>
              </a:spcAft>
            </a:pPr>
            <a:r>
              <a:rPr b="1" sz="1600">
                <a:solidFill>
                  <a:srgbClr val="0F766E"/>
                </a:solidFill>
                <a:latin typeface="Calibri"/>
              </a:rPr>
              <a:t>▪ Inverse RL</a:t>
            </a:r>
            <a:r>
              <a:rPr sz="1600">
                <a:solidFill>
                  <a:srgbClr val="1F2937"/>
                </a:solidFill>
                <a:latin typeface="Calibri"/>
              </a:rPr>
              <a:t> observe demonstrations, recover the reward that explains them</a:t>
            </a:r>
          </a:p>
          <a:p>
            <a:pPr>
              <a:spcAft>
                <a:spcPts val="600"/>
              </a:spcAft>
            </a:pPr>
            <a:r>
              <a:rPr b="1" sz="1600">
                <a:solidFill>
                  <a:srgbClr val="0F766E"/>
                </a:solidFill>
                <a:latin typeface="Calibri"/>
              </a:rPr>
              <a:t>▪ Why it matters</a:t>
            </a:r>
            <a:r>
              <a:rPr sz="1600">
                <a:solidFill>
                  <a:srgbClr val="1F2937"/>
                </a:solidFill>
                <a:latin typeface="Calibri"/>
              </a:rPr>
              <a:t> personalised navigation, realistic simulation, human-compatible autonomy</a:t>
            </a:r>
          </a:p>
        </p:txBody>
      </p:sp>
      <p:sp>
        <p:nvSpPr>
          <p:cNvPr id="8" name="Rounded Rectangle 7"/>
          <p:cNvSpPr/>
          <p:nvPr/>
        </p:nvSpPr>
        <p:spPr>
          <a:xfrm>
            <a:off x="6309360" y="1463040"/>
            <a:ext cx="5349240" cy="448056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600200"/>
            <a:ext cx="4937760" cy="365760"/>
          </a:xfrm>
          <a:prstGeom prst="rect">
            <a:avLst/>
          </a:prstGeom>
          <a:noFill/>
        </p:spPr>
        <p:txBody>
          <a:bodyPr wrap="square" lIns="45720" rIns="45720" tIns="27432" bIns="27432" anchor="t">
            <a:spAutoFit/>
          </a:bodyPr>
          <a:lstStyle/>
          <a:p>
            <a:pPr algn="l"/>
            <a:r>
              <a:rPr sz="2000" b="1" i="0">
                <a:solidFill>
                  <a:srgbClr val="0B1F3A"/>
                </a:solidFill>
                <a:latin typeface="Cambria"/>
              </a:rPr>
              <a:t>Our task</a:t>
            </a:r>
          </a:p>
        </p:txBody>
      </p:sp>
      <p:sp>
        <p:nvSpPr>
          <p:cNvPr id="10" name="TextBox 9"/>
          <p:cNvSpPr txBox="1"/>
          <p:nvPr/>
        </p:nvSpPr>
        <p:spPr>
          <a:xfrm>
            <a:off x="6537960" y="2103120"/>
            <a:ext cx="4937760" cy="914400"/>
          </a:xfrm>
          <a:prstGeom prst="rect">
            <a:avLst/>
          </a:prstGeom>
          <a:noFill/>
        </p:spPr>
        <p:txBody>
          <a:bodyPr wrap="square" lIns="45720" rIns="45720" tIns="27432" bIns="27432" anchor="t">
            <a:spAutoFit/>
          </a:bodyPr>
          <a:lstStyle/>
          <a:p>
            <a:pPr algn="l"/>
            <a:r>
              <a:rPr sz="1500" b="0" i="0">
                <a:solidFill>
                  <a:srgbClr val="1F2937"/>
                </a:solidFill>
                <a:latin typeface="Calibri"/>
              </a:rPr>
              <a:t>Given a road graph G and N map-matched trips D = {τ₁…τₙ}, find reward weights w that make the observed routes most likely:</a:t>
            </a:r>
          </a:p>
        </p:txBody>
      </p:sp>
      <p:sp>
        <p:nvSpPr>
          <p:cNvPr id="11" name="Rounded Rectangle 10"/>
          <p:cNvSpPr/>
          <p:nvPr/>
        </p:nvSpPr>
        <p:spPr>
          <a:xfrm>
            <a:off x="6537960" y="3200400"/>
            <a:ext cx="4892040" cy="914400"/>
          </a:xfrm>
          <a:prstGeom prst="roundRect">
            <a:avLst>
              <a:gd name="adj" fmla="val 6000"/>
            </a:avLst>
          </a:prstGeom>
          <a:solidFill>
            <a:srgbClr val="ECF3FB"/>
          </a:solidFill>
          <a:ln w="12700">
            <a:solidFill>
              <a:srgbClr val="BFD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3291840"/>
            <a:ext cx="4754880" cy="731520"/>
          </a:xfrm>
          <a:prstGeom prst="rect">
            <a:avLst/>
          </a:prstGeom>
          <a:noFill/>
        </p:spPr>
        <p:txBody>
          <a:bodyPr wrap="square" lIns="45720" rIns="45720" tIns="27432" bIns="27432" anchor="ctr">
            <a:spAutoFit/>
          </a:bodyPr>
          <a:lstStyle/>
          <a:p>
            <a:pPr algn="ctr"/>
            <a:r>
              <a:rPr sz="1700" b="1" i="0">
                <a:solidFill>
                  <a:srgbClr val="0B1F3A"/>
                </a:solidFill>
                <a:latin typeface="Cambria"/>
              </a:rPr>
              <a:t>w* = argmax_w Σᵢ log P(τᵢ | w, oᵢ, dᵢ) − λ‖w‖²</a:t>
            </a:r>
          </a:p>
        </p:txBody>
      </p:sp>
      <p:sp>
        <p:nvSpPr>
          <p:cNvPr id="13" name="TextBox 12"/>
          <p:cNvSpPr txBox="1"/>
          <p:nvPr/>
        </p:nvSpPr>
        <p:spPr>
          <a:xfrm>
            <a:off x="6537960" y="4343400"/>
            <a:ext cx="4937760" cy="1554480"/>
          </a:xfrm>
          <a:prstGeom prst="rect">
            <a:avLst/>
          </a:prstGeom>
          <a:noFill/>
        </p:spPr>
        <p:txBody>
          <a:bodyPr wrap="square" lIns="45720">
            <a:spAutoFit/>
          </a:bodyPr>
          <a:lstStyle/>
          <a:p>
            <a:pPr>
              <a:spcAft>
                <a:spcPts val="600"/>
              </a:spcAft>
            </a:pPr>
            <a:r>
              <a:rPr b="1" sz="1600">
                <a:solidFill>
                  <a:srgbClr val="0F766E"/>
                </a:solidFill>
                <a:latin typeface="Calibri"/>
              </a:rPr>
              <a:t>▪ Forward RL</a:t>
            </a:r>
            <a:r>
              <a:rPr sz="1600">
                <a:solidFill>
                  <a:srgbClr val="1F2937"/>
                </a:solidFill>
                <a:latin typeface="Calibri"/>
              </a:rPr>
              <a:t> reward → policy</a:t>
            </a:r>
          </a:p>
          <a:p>
            <a:pPr>
              <a:spcAft>
                <a:spcPts val="600"/>
              </a:spcAft>
            </a:pPr>
            <a:r>
              <a:rPr b="1" sz="1600">
                <a:solidFill>
                  <a:srgbClr val="0F766E"/>
                </a:solidFill>
                <a:latin typeface="Calibri"/>
              </a:rPr>
              <a:t>▪ Inverse RL (ours)</a:t>
            </a:r>
            <a:r>
              <a:rPr sz="1600">
                <a:solidFill>
                  <a:srgbClr val="1F2937"/>
                </a:solidFill>
                <a:latin typeface="Calibri"/>
              </a:rPr>
              <a:t> demonstrations → reward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LITERATURE REVIEW</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Related work: from feature matching to deep IRL</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3</a:t>
            </a:r>
          </a:p>
        </p:txBody>
      </p:sp>
      <p:graphicFrame>
        <p:nvGraphicFramePr>
          <p:cNvPr id="5" name="Table 4"/>
          <p:cNvGraphicFramePr>
            <a:graphicFrameLocks noGrp="1"/>
          </p:cNvGraphicFramePr>
          <p:nvPr/>
        </p:nvGraphicFramePr>
        <p:xfrm>
          <a:off x="548640" y="1463040"/>
          <a:ext cx="11064240" cy="4526280"/>
        </p:xfrm>
        <a:graphic>
          <a:graphicData uri="http://schemas.openxmlformats.org/drawingml/2006/table">
            <a:tbl>
              <a:tblPr firstRow="0" bandRow="0">
                <a:tableStyleId>{5C22544A-7EE6-4342-B048-85BDC9FD1C3A}</a:tableStyleId>
              </a:tblPr>
              <a:tblGrid>
                <a:gridCol w="1920240"/>
                <a:gridCol w="2743200"/>
                <a:gridCol w="3474720"/>
                <a:gridCol w="2926080"/>
              </a:tblGrid>
              <a:tr h="502920">
                <a:tc>
                  <a:txBody>
                    <a:bodyPr wrap="square"/>
                    <a:lstStyle/>
                    <a:p>
                      <a:r>
                        <a:rPr sz="1300" b="1">
                          <a:solidFill>
                            <a:srgbClr val="FFFFFF"/>
                          </a:solidFill>
                          <a:latin typeface="Calibri"/>
                        </a:rPr>
                        <a:t>Work</a:t>
                      </a:r>
                    </a:p>
                  </a:txBody>
                  <a:tcPr marL="73152" marR="73152" marT="27432" marB="27432" anchor="ctr">
                    <a:solidFill>
                      <a:srgbClr val="0B1F3A"/>
                    </a:solidFill>
                  </a:tcPr>
                </a:tc>
                <a:tc>
                  <a:txBody>
                    <a:bodyPr wrap="square"/>
                    <a:lstStyle/>
                    <a:p>
                      <a:r>
                        <a:rPr sz="1300" b="1">
                          <a:solidFill>
                            <a:srgbClr val="FFFFFF"/>
                          </a:solidFill>
                          <a:latin typeface="Calibri"/>
                        </a:rPr>
                        <a:t>Venue</a:t>
                      </a:r>
                    </a:p>
                  </a:txBody>
                  <a:tcPr marL="73152" marR="73152" marT="27432" marB="27432" anchor="ctr">
                    <a:solidFill>
                      <a:srgbClr val="0B1F3A"/>
                    </a:solidFill>
                  </a:tcPr>
                </a:tc>
                <a:tc>
                  <a:txBody>
                    <a:bodyPr wrap="square"/>
                    <a:lstStyle/>
                    <a:p>
                      <a:r>
                        <a:rPr sz="1300" b="1">
                          <a:solidFill>
                            <a:srgbClr val="FFFFFF"/>
                          </a:solidFill>
                          <a:latin typeface="Calibri"/>
                        </a:rPr>
                        <a:t>Idea</a:t>
                      </a:r>
                    </a:p>
                  </a:txBody>
                  <a:tcPr marL="73152" marR="73152" marT="27432" marB="27432" anchor="ctr">
                    <a:solidFill>
                      <a:srgbClr val="0B1F3A"/>
                    </a:solidFill>
                  </a:tcPr>
                </a:tc>
                <a:tc>
                  <a:txBody>
                    <a:bodyPr wrap="square"/>
                    <a:lstStyle/>
                    <a:p>
                      <a:r>
                        <a:rPr sz="1300" b="1">
                          <a:solidFill>
                            <a:srgbClr val="FFFFFF"/>
                          </a:solidFill>
                          <a:latin typeface="Calibri"/>
                        </a:rPr>
                        <a:t>Limit for our setting</a:t>
                      </a:r>
                    </a:p>
                  </a:txBody>
                  <a:tcPr marL="73152" marR="73152" marT="27432" marB="27432" anchor="ctr">
                    <a:solidFill>
                      <a:srgbClr val="0B1F3A"/>
                    </a:solidFill>
                  </a:tcPr>
                </a:tc>
              </a:tr>
              <a:tr h="502920">
                <a:tc>
                  <a:txBody>
                    <a:bodyPr wrap="square"/>
                    <a:lstStyle/>
                    <a:p>
                      <a:r>
                        <a:rPr sz="1300" b="1">
                          <a:solidFill>
                            <a:srgbClr val="1F2937"/>
                          </a:solidFill>
                          <a:latin typeface="Calibri"/>
                        </a:rPr>
                        <a:t>Ziebart et al.</a:t>
                      </a:r>
                    </a:p>
                  </a:txBody>
                  <a:tcPr marL="73152" marR="73152" marT="27432" marB="27432" anchor="ctr">
                    <a:solidFill>
                      <a:srgbClr val="E6F4F1"/>
                    </a:solidFill>
                  </a:tcPr>
                </a:tc>
                <a:tc>
                  <a:txBody>
                    <a:bodyPr wrap="square"/>
                    <a:lstStyle/>
                    <a:p>
                      <a:r>
                        <a:rPr sz="1300" b="1">
                          <a:solidFill>
                            <a:srgbClr val="1F2937"/>
                          </a:solidFill>
                          <a:latin typeface="Calibri"/>
                        </a:rPr>
                        <a:t>AAAI 2008, Chicago</a:t>
                      </a:r>
                    </a:p>
                  </a:txBody>
                  <a:tcPr marL="73152" marR="73152" marT="27432" marB="27432" anchor="ctr">
                    <a:solidFill>
                      <a:srgbClr val="E6F4F1"/>
                    </a:solidFill>
                  </a:tcPr>
                </a:tc>
                <a:tc>
                  <a:txBody>
                    <a:bodyPr wrap="square"/>
                    <a:lstStyle/>
                    <a:p>
                      <a:r>
                        <a:rPr sz="1300" b="1">
                          <a:solidFill>
                            <a:srgbClr val="1F2937"/>
                          </a:solidFill>
                          <a:latin typeface="Calibri"/>
                        </a:rPr>
                        <a:t>MaxEnt IRL on taxi GPS, linear reward</a:t>
                      </a:r>
                    </a:p>
                  </a:txBody>
                  <a:tcPr marL="73152" marR="73152" marT="27432" marB="27432" anchor="ctr">
                    <a:solidFill>
                      <a:srgbClr val="E6F4F1"/>
                    </a:solidFill>
                  </a:tcPr>
                </a:tc>
                <a:tc>
                  <a:txBody>
                    <a:bodyPr wrap="square"/>
                    <a:lstStyle/>
                    <a:p>
                      <a:r>
                        <a:rPr sz="1300" b="1">
                          <a:solidFill>
                            <a:srgbClr val="1F2937"/>
                          </a:solidFill>
                          <a:latin typeface="Calibri"/>
                        </a:rPr>
                        <a:t>Private data, not reproducible</a:t>
                      </a:r>
                    </a:p>
                  </a:txBody>
                  <a:tcPr marL="73152" marR="73152" marT="27432" marB="27432" anchor="ctr">
                    <a:solidFill>
                      <a:srgbClr val="E6F4F1"/>
                    </a:solidFill>
                  </a:tcPr>
                </a:tc>
              </a:tr>
              <a:tr h="502920">
                <a:tc>
                  <a:txBody>
                    <a:bodyPr wrap="square"/>
                    <a:lstStyle/>
                    <a:p>
                      <a:r>
                        <a:rPr sz="1300" b="0">
                          <a:solidFill>
                            <a:srgbClr val="1F2937"/>
                          </a:solidFill>
                          <a:latin typeface="Calibri"/>
                        </a:rPr>
                        <a:t>Ziebart et al.</a:t>
                      </a:r>
                    </a:p>
                  </a:txBody>
                  <a:tcPr marL="73152" marR="73152" marT="27432" marB="27432" anchor="ctr">
                    <a:solidFill>
                      <a:srgbClr val="F1F5F9"/>
                    </a:solidFill>
                  </a:tcPr>
                </a:tc>
                <a:tc>
                  <a:txBody>
                    <a:bodyPr wrap="square"/>
                    <a:lstStyle/>
                    <a:p>
                      <a:r>
                        <a:rPr sz="1300" b="0">
                          <a:solidFill>
                            <a:srgbClr val="1F2937"/>
                          </a:solidFill>
                          <a:latin typeface="Calibri"/>
                        </a:rPr>
                        <a:t>UbiComp 2008, Seoul</a:t>
                      </a:r>
                    </a:p>
                  </a:txBody>
                  <a:tcPr marL="73152" marR="73152" marT="27432" marB="27432" anchor="ctr">
                    <a:solidFill>
                      <a:srgbClr val="F1F5F9"/>
                    </a:solidFill>
                  </a:tcPr>
                </a:tc>
                <a:tc>
                  <a:txBody>
                    <a:bodyPr wrap="square"/>
                    <a:lstStyle/>
                    <a:p>
                      <a:r>
                        <a:rPr sz="1300" b="0">
                          <a:solidFill>
                            <a:srgbClr val="1F2937"/>
                          </a:solidFill>
                          <a:latin typeface="Calibri"/>
                        </a:rPr>
                        <a:t>Predict route, turn and destination with context</a:t>
                      </a:r>
                    </a:p>
                  </a:txBody>
                  <a:tcPr marL="73152" marR="73152" marT="27432" marB="27432" anchor="ctr">
                    <a:solidFill>
                      <a:srgbClr val="F1F5F9"/>
                    </a:solidFill>
                  </a:tcPr>
                </a:tc>
                <a:tc>
                  <a:txBody>
                    <a:bodyPr wrap="square"/>
                    <a:lstStyle/>
                    <a:p>
                      <a:r>
                        <a:rPr sz="1300" b="0">
                          <a:solidFill>
                            <a:srgbClr val="1F2937"/>
                          </a:solidFill>
                          <a:latin typeface="Calibri"/>
                        </a:rPr>
                        <a:t>Private data; destination inference</a:t>
                      </a:r>
                    </a:p>
                  </a:txBody>
                  <a:tcPr marL="73152" marR="73152" marT="27432" marB="27432" anchor="ctr">
                    <a:solidFill>
                      <a:srgbClr val="F1F5F9"/>
                    </a:solidFill>
                  </a:tcPr>
                </a:tc>
              </a:tr>
              <a:tr h="502920">
                <a:tc>
                  <a:txBody>
                    <a:bodyPr wrap="square"/>
                    <a:lstStyle/>
                    <a:p>
                      <a:r>
                        <a:rPr sz="1300" b="0">
                          <a:solidFill>
                            <a:srgbClr val="1F2937"/>
                          </a:solidFill>
                          <a:latin typeface="Calibri"/>
                        </a:rPr>
                        <a:t>Abbeel &amp; Ng</a:t>
                      </a:r>
                    </a:p>
                  </a:txBody>
                  <a:tcPr marL="73152" marR="73152" marT="27432" marB="27432" anchor="ctr">
                    <a:solidFill>
                      <a:srgbClr val="FFFFFF"/>
                    </a:solidFill>
                  </a:tcPr>
                </a:tc>
                <a:tc>
                  <a:txBody>
                    <a:bodyPr wrap="square"/>
                    <a:lstStyle/>
                    <a:p>
                      <a:r>
                        <a:rPr sz="1300" b="0">
                          <a:solidFill>
                            <a:srgbClr val="1F2937"/>
                          </a:solidFill>
                          <a:latin typeface="Calibri"/>
                        </a:rPr>
                        <a:t>ICML 2004, Banff</a:t>
                      </a:r>
                    </a:p>
                  </a:txBody>
                  <a:tcPr marL="73152" marR="73152" marT="27432" marB="27432" anchor="ctr">
                    <a:solidFill>
                      <a:srgbClr val="FFFFFF"/>
                    </a:solidFill>
                  </a:tcPr>
                </a:tc>
                <a:tc>
                  <a:txBody>
                    <a:bodyPr wrap="square"/>
                    <a:lstStyle/>
                    <a:p>
                      <a:r>
                        <a:rPr sz="1300" b="0">
                          <a:solidFill>
                            <a:srgbClr val="1F2937"/>
                          </a:solidFill>
                          <a:latin typeface="Calibri"/>
                        </a:rPr>
                        <a:t>Feature-expectation matching (apprenticeship)</a:t>
                      </a:r>
                    </a:p>
                  </a:txBody>
                  <a:tcPr marL="73152" marR="73152" marT="27432" marB="27432" anchor="ctr">
                    <a:solidFill>
                      <a:srgbClr val="FFFFFF"/>
                    </a:solidFill>
                  </a:tcPr>
                </a:tc>
                <a:tc>
                  <a:txBody>
                    <a:bodyPr wrap="square"/>
                    <a:lstStyle/>
                    <a:p>
                      <a:r>
                        <a:rPr sz="1300" b="0">
                          <a:solidFill>
                            <a:srgbClr val="1F2937"/>
                          </a:solidFill>
                          <a:latin typeface="Calibri"/>
                        </a:rPr>
                        <a:t>Mixture of policies; ambiguous</a:t>
                      </a:r>
                    </a:p>
                  </a:txBody>
                  <a:tcPr marL="73152" marR="73152" marT="27432" marB="27432" anchor="ctr">
                    <a:solidFill>
                      <a:srgbClr val="FFFFFF"/>
                    </a:solidFill>
                  </a:tcPr>
                </a:tc>
              </a:tr>
              <a:tr h="502920">
                <a:tc>
                  <a:txBody>
                    <a:bodyPr wrap="square"/>
                    <a:lstStyle/>
                    <a:p>
                      <a:r>
                        <a:rPr sz="1300" b="0">
                          <a:solidFill>
                            <a:srgbClr val="1F2937"/>
                          </a:solidFill>
                          <a:latin typeface="Calibri"/>
                        </a:rPr>
                        <a:t>Wulfmeier et al.</a:t>
                      </a:r>
                    </a:p>
                  </a:txBody>
                  <a:tcPr marL="73152" marR="73152" marT="27432" marB="27432" anchor="ctr">
                    <a:solidFill>
                      <a:srgbClr val="F1F5F9"/>
                    </a:solidFill>
                  </a:tcPr>
                </a:tc>
                <a:tc>
                  <a:txBody>
                    <a:bodyPr wrap="square"/>
                    <a:lstStyle/>
                    <a:p>
                      <a:r>
                        <a:rPr sz="1300" b="0">
                          <a:solidFill>
                            <a:srgbClr val="1F2937"/>
                          </a:solidFill>
                          <a:latin typeface="Calibri"/>
                        </a:rPr>
                        <a:t>NIPS 2015 Deep RL workshop</a:t>
                      </a:r>
                    </a:p>
                  </a:txBody>
                  <a:tcPr marL="73152" marR="73152" marT="27432" marB="27432" anchor="ctr">
                    <a:solidFill>
                      <a:srgbClr val="F1F5F9"/>
                    </a:solidFill>
                  </a:tcPr>
                </a:tc>
                <a:tc>
                  <a:txBody>
                    <a:bodyPr wrap="square"/>
                    <a:lstStyle/>
                    <a:p>
                      <a:r>
                        <a:rPr sz="1300" b="0">
                          <a:solidFill>
                            <a:srgbClr val="1F2937"/>
                          </a:solidFill>
                          <a:latin typeface="Calibri"/>
                        </a:rPr>
                        <a:t>Neural-network reward in MaxEnt IRL</a:t>
                      </a:r>
                    </a:p>
                  </a:txBody>
                  <a:tcPr marL="73152" marR="73152" marT="27432" marB="27432" anchor="ctr">
                    <a:solidFill>
                      <a:srgbClr val="F1F5F9"/>
                    </a:solidFill>
                  </a:tcPr>
                </a:tc>
                <a:tc>
                  <a:txBody>
                    <a:bodyPr wrap="square"/>
                    <a:lstStyle/>
                    <a:p>
                      <a:r>
                        <a:rPr sz="1300" b="0">
                          <a:solidFill>
                            <a:srgbClr val="1F2937"/>
                          </a:solidFill>
                          <a:latin typeface="Calibri"/>
                        </a:rPr>
                        <a:t>Less interpretable; grid worlds</a:t>
                      </a:r>
                    </a:p>
                  </a:txBody>
                  <a:tcPr marL="73152" marR="73152" marT="27432" marB="27432" anchor="ctr">
                    <a:solidFill>
                      <a:srgbClr val="F1F5F9"/>
                    </a:solidFill>
                  </a:tcPr>
                </a:tc>
              </a:tr>
              <a:tr h="502920">
                <a:tc>
                  <a:txBody>
                    <a:bodyPr wrap="square"/>
                    <a:lstStyle/>
                    <a:p>
                      <a:r>
                        <a:rPr sz="1300" b="0">
                          <a:solidFill>
                            <a:srgbClr val="1F2937"/>
                          </a:solidFill>
                          <a:latin typeface="Calibri"/>
                        </a:rPr>
                        <a:t>Finn, Levine, Abbeel</a:t>
                      </a:r>
                    </a:p>
                  </a:txBody>
                  <a:tcPr marL="73152" marR="73152" marT="27432" marB="27432" anchor="ctr">
                    <a:solidFill>
                      <a:srgbClr val="FFFFFF"/>
                    </a:solidFill>
                  </a:tcPr>
                </a:tc>
                <a:tc>
                  <a:txBody>
                    <a:bodyPr wrap="square"/>
                    <a:lstStyle/>
                    <a:p>
                      <a:r>
                        <a:rPr sz="1300" b="0">
                          <a:solidFill>
                            <a:srgbClr val="1F2937"/>
                          </a:solidFill>
                          <a:latin typeface="Calibri"/>
                        </a:rPr>
                        <a:t>ICML 2016, New York</a:t>
                      </a:r>
                    </a:p>
                  </a:txBody>
                  <a:tcPr marL="73152" marR="73152" marT="27432" marB="27432" anchor="ctr">
                    <a:solidFill>
                      <a:srgbClr val="FFFFFF"/>
                    </a:solidFill>
                  </a:tcPr>
                </a:tc>
                <a:tc>
                  <a:txBody>
                    <a:bodyPr wrap="square"/>
                    <a:lstStyle/>
                    <a:p>
                      <a:r>
                        <a:rPr sz="1300" b="0">
                          <a:solidFill>
                            <a:srgbClr val="1F2937"/>
                          </a:solidFill>
                          <a:latin typeface="Calibri"/>
                        </a:rPr>
                        <a:t>Guided cost learning, sampled partition function</a:t>
                      </a:r>
                    </a:p>
                  </a:txBody>
                  <a:tcPr marL="73152" marR="73152" marT="27432" marB="27432" anchor="ctr">
                    <a:solidFill>
                      <a:srgbClr val="FFFFFF"/>
                    </a:solidFill>
                  </a:tcPr>
                </a:tc>
                <a:tc>
                  <a:txBody>
                    <a:bodyPr wrap="square"/>
                    <a:lstStyle/>
                    <a:p>
                      <a:r>
                        <a:rPr sz="1300" b="0">
                          <a:solidFill>
                            <a:srgbClr val="1F2937"/>
                          </a:solidFill>
                          <a:latin typeface="Calibri"/>
                        </a:rPr>
                        <a:t>Sampling noise; continuous control</a:t>
                      </a:r>
                    </a:p>
                  </a:txBody>
                  <a:tcPr marL="73152" marR="73152" marT="27432" marB="27432" anchor="ctr">
                    <a:solidFill>
                      <a:srgbClr val="FFFFFF"/>
                    </a:solidFill>
                  </a:tcPr>
                </a:tc>
              </a:tr>
              <a:tr h="502920">
                <a:tc>
                  <a:txBody>
                    <a:bodyPr wrap="square"/>
                    <a:lstStyle/>
                    <a:p>
                      <a:r>
                        <a:rPr sz="1300" b="0">
                          <a:solidFill>
                            <a:srgbClr val="1F2937"/>
                          </a:solidFill>
                          <a:latin typeface="Calibri"/>
                        </a:rPr>
                        <a:t>McFadden; Prato</a:t>
                      </a:r>
                    </a:p>
                  </a:txBody>
                  <a:tcPr marL="73152" marR="73152" marT="27432" marB="27432" anchor="ctr">
                    <a:solidFill>
                      <a:srgbClr val="F1F5F9"/>
                    </a:solidFill>
                  </a:tcPr>
                </a:tc>
                <a:tc>
                  <a:txBody>
                    <a:bodyPr wrap="square"/>
                    <a:lstStyle/>
                    <a:p>
                      <a:r>
                        <a:rPr sz="1300" b="0">
                          <a:solidFill>
                            <a:srgbClr val="1F2937"/>
                          </a:solidFill>
                          <a:latin typeface="Calibri"/>
                        </a:rPr>
                        <a:t>Econometrics 1974; J. Choice Modelling 2009</a:t>
                      </a:r>
                    </a:p>
                  </a:txBody>
                  <a:tcPr marL="73152" marR="73152" marT="27432" marB="27432" anchor="ctr">
                    <a:solidFill>
                      <a:srgbClr val="F1F5F9"/>
                    </a:solidFill>
                  </a:tcPr>
                </a:tc>
                <a:tc>
                  <a:txBody>
                    <a:bodyPr wrap="square"/>
                    <a:lstStyle/>
                    <a:p>
                      <a:r>
                        <a:rPr sz="1300" b="0">
                          <a:solidFill>
                            <a:srgbClr val="1F2937"/>
                          </a:solidFill>
                          <a:latin typeface="Calibri"/>
                        </a:rPr>
                        <a:t>Logit over a route choice set</a:t>
                      </a:r>
                    </a:p>
                  </a:txBody>
                  <a:tcPr marL="73152" marR="73152" marT="27432" marB="27432" anchor="ctr">
                    <a:solidFill>
                      <a:srgbClr val="F1F5F9"/>
                    </a:solidFill>
                  </a:tcPr>
                </a:tc>
                <a:tc>
                  <a:txBody>
                    <a:bodyPr wrap="square"/>
                    <a:lstStyle/>
                    <a:p>
                      <a:r>
                        <a:rPr sz="1300" b="0">
                          <a:solidFill>
                            <a:srgbClr val="1F2937"/>
                          </a:solidFill>
                          <a:latin typeface="Calibri"/>
                        </a:rPr>
                        <a:t>Needs choice-set generation</a:t>
                      </a:r>
                    </a:p>
                  </a:txBody>
                  <a:tcPr marL="73152" marR="73152" marT="27432" marB="27432" anchor="ctr">
                    <a:solidFill>
                      <a:srgbClr val="F1F5F9"/>
                    </a:solidFill>
                  </a:tcPr>
                </a:tc>
              </a:tr>
              <a:tr h="502920">
                <a:tc>
                  <a:txBody>
                    <a:bodyPr wrap="square"/>
                    <a:lstStyle/>
                    <a:p>
                      <a:r>
                        <a:rPr sz="1300" b="0">
                          <a:solidFill>
                            <a:srgbClr val="1F2937"/>
                          </a:solidFill>
                          <a:latin typeface="Calibri"/>
                        </a:rPr>
                        <a:t>Dijkstra; Hart et al.</a:t>
                      </a:r>
                    </a:p>
                  </a:txBody>
                  <a:tcPr marL="73152" marR="73152" marT="27432" marB="27432" anchor="ctr">
                    <a:solidFill>
                      <a:srgbClr val="FFFFFF"/>
                    </a:solidFill>
                  </a:tcPr>
                </a:tc>
                <a:tc>
                  <a:txBody>
                    <a:bodyPr wrap="square"/>
                    <a:lstStyle/>
                    <a:p>
                      <a:r>
                        <a:rPr sz="1300" b="0">
                          <a:solidFill>
                            <a:srgbClr val="1F2937"/>
                          </a:solidFill>
                          <a:latin typeface="Calibri"/>
                        </a:rPr>
                        <a:t>Numer. Math. 1959; IEEE SSC 1968</a:t>
                      </a:r>
                    </a:p>
                  </a:txBody>
                  <a:tcPr marL="73152" marR="73152" marT="27432" marB="27432" anchor="ctr">
                    <a:solidFill>
                      <a:srgbClr val="FFFFFF"/>
                    </a:solidFill>
                  </a:tcPr>
                </a:tc>
                <a:tc>
                  <a:txBody>
                    <a:bodyPr wrap="square"/>
                    <a:lstStyle/>
                    <a:p>
                      <a:r>
                        <a:rPr sz="1300" b="0">
                          <a:solidFill>
                            <a:srgbClr val="1F2937"/>
                          </a:solidFill>
                          <a:latin typeface="Calibri"/>
                        </a:rPr>
                        <a:t>Shortest path, fixed metric</a:t>
                      </a:r>
                    </a:p>
                  </a:txBody>
                  <a:tcPr marL="73152" marR="73152" marT="27432" marB="27432" anchor="ctr">
                    <a:solidFill>
                      <a:srgbClr val="FFFFFF"/>
                    </a:solidFill>
                  </a:tcPr>
                </a:tc>
                <a:tc>
                  <a:txBody>
                    <a:bodyPr wrap="square"/>
                    <a:lstStyle/>
                    <a:p>
                      <a:r>
                        <a:rPr sz="1300" b="0">
                          <a:solidFill>
                            <a:srgbClr val="1F2937"/>
                          </a:solidFill>
                          <a:latin typeface="Calibri"/>
                        </a:rPr>
                        <a:t>No learning: our baseline</a:t>
                      </a:r>
                    </a:p>
                  </a:txBody>
                  <a:tcPr marL="73152" marR="73152" marT="27432" marB="27432" anchor="ctr">
                    <a:solidFill>
                      <a:srgbClr val="FFFFFF"/>
                    </a:solidFill>
                  </a:tcPr>
                </a:tc>
              </a:tr>
              <a:tr h="502920">
                <a:tc>
                  <a:txBody>
                    <a:bodyPr wrap="square"/>
                    <a:lstStyle/>
                    <a:p>
                      <a:r>
                        <a:rPr sz="1300" b="0">
                          <a:solidFill>
                            <a:srgbClr val="1F2937"/>
                          </a:solidFill>
                          <a:latin typeface="Calibri"/>
                        </a:rPr>
                        <a:t>Newson &amp; Krumm</a:t>
                      </a:r>
                    </a:p>
                  </a:txBody>
                  <a:tcPr marL="73152" marR="73152" marT="27432" marB="27432" anchor="ctr">
                    <a:solidFill>
                      <a:srgbClr val="F1F5F9"/>
                    </a:solidFill>
                  </a:tcPr>
                </a:tc>
                <a:tc>
                  <a:txBody>
                    <a:bodyPr wrap="square"/>
                    <a:lstStyle/>
                    <a:p>
                      <a:r>
                        <a:rPr sz="1300" b="0">
                          <a:solidFill>
                            <a:srgbClr val="1F2937"/>
                          </a:solidFill>
                          <a:latin typeface="Calibri"/>
                        </a:rPr>
                        <a:t>ACM SIGSPATIAL 2009, Seattle</a:t>
                      </a:r>
                    </a:p>
                  </a:txBody>
                  <a:tcPr marL="73152" marR="73152" marT="27432" marB="27432" anchor="ctr">
                    <a:solidFill>
                      <a:srgbClr val="F1F5F9"/>
                    </a:solidFill>
                  </a:tcPr>
                </a:tc>
                <a:tc>
                  <a:txBody>
                    <a:bodyPr wrap="square"/>
                    <a:lstStyle/>
                    <a:p>
                      <a:r>
                        <a:rPr sz="1300" b="0">
                          <a:solidFill>
                            <a:srgbClr val="1F2937"/>
                          </a:solidFill>
                          <a:latin typeface="Calibri"/>
                        </a:rPr>
                        <a:t>HMM map matching</a:t>
                      </a:r>
                    </a:p>
                  </a:txBody>
                  <a:tcPr marL="73152" marR="73152" marT="27432" marB="27432" anchor="ctr">
                    <a:solidFill>
                      <a:srgbClr val="F1F5F9"/>
                    </a:solidFill>
                  </a:tcPr>
                </a:tc>
                <a:tc>
                  <a:txBody>
                    <a:bodyPr wrap="square"/>
                    <a:lstStyle/>
                    <a:p>
                      <a:r>
                        <a:rPr sz="1300" b="0">
                          <a:solidFill>
                            <a:srgbClr val="1F2937"/>
                          </a:solidFill>
                          <a:latin typeface="Calibri"/>
                        </a:rPr>
                        <a:t>Our preprocessing step</a:t>
                      </a:r>
                    </a:p>
                  </a:txBody>
                  <a:tcPr marL="73152" marR="73152" marT="27432" marB="27432" anchor="ctr">
                    <a:solidFill>
                      <a:srgbClr val="F1F5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LITERATURE REVIEW</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How this project differs from prior work</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4</a:t>
            </a:r>
          </a:p>
        </p:txBody>
      </p:sp>
      <p:sp>
        <p:nvSpPr>
          <p:cNvPr id="5" name="Rounded Rectangle 4"/>
          <p:cNvSpPr/>
          <p:nvPr/>
        </p:nvSpPr>
        <p:spPr>
          <a:xfrm>
            <a:off x="548640" y="1463040"/>
            <a:ext cx="5486400" cy="452628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72768"/>
            <a:ext cx="5029200" cy="365760"/>
          </a:xfrm>
          <a:prstGeom prst="rect">
            <a:avLst/>
          </a:prstGeom>
          <a:noFill/>
        </p:spPr>
        <p:txBody>
          <a:bodyPr wrap="square" lIns="45720" rIns="45720" tIns="27432" bIns="27432" anchor="t">
            <a:spAutoFit/>
          </a:bodyPr>
          <a:lstStyle/>
          <a:p>
            <a:pPr algn="l"/>
            <a:r>
              <a:rPr sz="2000" b="1" i="0">
                <a:solidFill>
                  <a:srgbClr val="0B1F3A"/>
                </a:solidFill>
                <a:latin typeface="Cambria"/>
              </a:rPr>
              <a:t>What we add</a:t>
            </a:r>
          </a:p>
        </p:txBody>
      </p:sp>
      <p:sp>
        <p:nvSpPr>
          <p:cNvPr id="7" name="TextBox 6"/>
          <p:cNvSpPr txBox="1"/>
          <p:nvPr/>
        </p:nvSpPr>
        <p:spPr>
          <a:xfrm>
            <a:off x="777240" y="2057400"/>
            <a:ext cx="5029200" cy="3840480"/>
          </a:xfrm>
          <a:prstGeom prst="rect">
            <a:avLst/>
          </a:prstGeom>
          <a:noFill/>
        </p:spPr>
        <p:txBody>
          <a:bodyPr wrap="square" lIns="45720">
            <a:spAutoFit/>
          </a:bodyPr>
          <a:lstStyle/>
          <a:p>
            <a:pPr>
              <a:spcAft>
                <a:spcPts val="500"/>
              </a:spcAft>
            </a:pPr>
            <a:r>
              <a:rPr b="1" sz="1500">
                <a:solidFill>
                  <a:srgbClr val="0F766E"/>
                </a:solidFill>
                <a:latin typeface="Calibri"/>
              </a:rPr>
              <a:t>▪ Public, reproducible data</a:t>
            </a:r>
            <a:r>
              <a:rPr sz="1500">
                <a:solidFill>
                  <a:srgbClr val="1F2937"/>
                </a:solidFill>
                <a:latin typeface="Calibri"/>
              </a:rPr>
              <a:t> Porto ECML/PKDD 2015 + OpenStreetMap + HMM map matching</a:t>
            </a:r>
          </a:p>
          <a:p>
            <a:pPr>
              <a:spcAft>
                <a:spcPts val="500"/>
              </a:spcAft>
            </a:pPr>
            <a:r>
              <a:rPr b="1" sz="1500">
                <a:solidFill>
                  <a:srgbClr val="0F766E"/>
                </a:solidFill>
                <a:latin typeface="Calibri"/>
              </a:rPr>
              <a:t>▪ Edge-state MDP</a:t>
            </a:r>
            <a:r>
              <a:rPr sz="1500">
                <a:solidFill>
                  <a:srgbClr val="1F2937"/>
                </a:solidFill>
                <a:latin typeface="Calibri"/>
              </a:rPr>
              <a:t> incoming edge as state keeps turn features Markov</a:t>
            </a:r>
          </a:p>
          <a:p>
            <a:pPr>
              <a:spcAft>
                <a:spcPts val="500"/>
              </a:spcAft>
            </a:pPr>
            <a:r>
              <a:rPr b="1" sz="1500">
                <a:solidFill>
                  <a:srgbClr val="0F766E"/>
                </a:solidFill>
                <a:latin typeface="Calibri"/>
              </a:rPr>
              <a:t>▪ Identifiable features</a:t>
            </a:r>
            <a:r>
              <a:rPr sz="1500">
                <a:solidFill>
                  <a:srgbClr val="1F2937"/>
                </a:solidFill>
                <a:latin typeface="Calibri"/>
              </a:rPr>
              <a:t> reference levels, per-step cost, goal direction, edge familiarity</a:t>
            </a:r>
          </a:p>
          <a:p>
            <a:pPr>
              <a:spcAft>
                <a:spcPts val="500"/>
              </a:spcAft>
            </a:pPr>
            <a:r>
              <a:rPr b="1" sz="1500">
                <a:solidFill>
                  <a:srgbClr val="0F766E"/>
                </a:solidFill>
                <a:latin typeface="Calibri"/>
              </a:rPr>
              <a:t>▪ Exact gradients</a:t>
            </a:r>
            <a:r>
              <a:rPr sz="1500">
                <a:solidFill>
                  <a:srgbClr val="1F2937"/>
                </a:solidFill>
                <a:latin typeface="Calibri"/>
              </a:rPr>
              <a:t> soft value iteration, no sampling noise</a:t>
            </a:r>
          </a:p>
          <a:p>
            <a:pPr>
              <a:spcAft>
                <a:spcPts val="500"/>
              </a:spcAft>
            </a:pPr>
            <a:r>
              <a:rPr b="1" sz="1500">
                <a:solidFill>
                  <a:srgbClr val="0F766E"/>
                </a:solidFill>
                <a:latin typeface="Calibri"/>
              </a:rPr>
              <a:t>▪ Honest evaluation</a:t>
            </a:r>
            <a:r>
              <a:rPr sz="1500">
                <a:solidFill>
                  <a:srgbClr val="1F2937"/>
                </a:solidFill>
                <a:latin typeface="Calibri"/>
              </a:rPr>
              <a:t> bootstrap CIs, paired tests, 5-fold CV, ablations</a:t>
            </a:r>
          </a:p>
          <a:p>
            <a:pPr>
              <a:spcAft>
                <a:spcPts val="500"/>
              </a:spcAft>
            </a:pPr>
            <a:r>
              <a:rPr b="1" sz="1500">
                <a:solidFill>
                  <a:srgbClr val="0F766E"/>
                </a:solidFill>
                <a:latin typeface="Calibri"/>
              </a:rPr>
              <a:t>▪ Explainable demo</a:t>
            </a:r>
            <a:r>
              <a:rPr sz="1500">
                <a:solidFill>
                  <a:srgbClr val="1F2937"/>
                </a:solidFill>
                <a:latin typeface="Calibri"/>
              </a:rPr>
              <a:t> per-feature "why this route"</a:t>
            </a:r>
          </a:p>
        </p:txBody>
      </p:sp>
      <p:sp>
        <p:nvSpPr>
          <p:cNvPr id="8" name="Rounded Rectangle 7"/>
          <p:cNvSpPr/>
          <p:nvPr/>
        </p:nvSpPr>
        <p:spPr>
          <a:xfrm>
            <a:off x="6309360" y="1463040"/>
            <a:ext cx="5349240" cy="452628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572768"/>
            <a:ext cx="4937760" cy="365760"/>
          </a:xfrm>
          <a:prstGeom prst="rect">
            <a:avLst/>
          </a:prstGeom>
          <a:noFill/>
        </p:spPr>
        <p:txBody>
          <a:bodyPr wrap="square" lIns="45720" rIns="45720" tIns="27432" bIns="27432" anchor="t">
            <a:spAutoFit/>
          </a:bodyPr>
          <a:lstStyle/>
          <a:p>
            <a:pPr algn="l"/>
            <a:r>
              <a:rPr sz="2000" b="1" i="0">
                <a:solidFill>
                  <a:srgbClr val="B91C1C"/>
                </a:solidFill>
                <a:latin typeface="Cambria"/>
              </a:rPr>
              <a:t>Where others are stronger</a:t>
            </a:r>
          </a:p>
        </p:txBody>
      </p:sp>
      <p:sp>
        <p:nvSpPr>
          <p:cNvPr id="10" name="TextBox 9"/>
          <p:cNvSpPr txBox="1"/>
          <p:nvPr/>
        </p:nvSpPr>
        <p:spPr>
          <a:xfrm>
            <a:off x="6537960" y="2057400"/>
            <a:ext cx="4937760" cy="3840480"/>
          </a:xfrm>
          <a:prstGeom prst="rect">
            <a:avLst/>
          </a:prstGeom>
          <a:noFill/>
        </p:spPr>
        <p:txBody>
          <a:bodyPr wrap="square" lIns="45720">
            <a:spAutoFit/>
          </a:bodyPr>
          <a:lstStyle/>
          <a:p>
            <a:pPr>
              <a:spcAft>
                <a:spcPts val="500"/>
              </a:spcAft>
            </a:pPr>
            <a:r>
              <a:rPr b="1" sz="1500">
                <a:solidFill>
                  <a:srgbClr val="0F766E"/>
                </a:solidFill>
                <a:latin typeface="Calibri"/>
              </a:rPr>
              <a:t>▪ Ziebart (AAAI 2008)</a:t>
            </a:r>
            <a:r>
              <a:rPr sz="1500">
                <a:solidFill>
                  <a:srgbClr val="1F2937"/>
                </a:solidFill>
                <a:latin typeface="Calibri"/>
              </a:rPr>
              <a:t> original method, much larger road network</a:t>
            </a:r>
          </a:p>
          <a:p>
            <a:pPr>
              <a:spcAft>
                <a:spcPts val="500"/>
              </a:spcAft>
            </a:pPr>
            <a:r>
              <a:rPr b="1" sz="1500">
                <a:solidFill>
                  <a:srgbClr val="0F766E"/>
                </a:solidFill>
                <a:latin typeface="Calibri"/>
              </a:rPr>
              <a:t>▪ Ziebart (UbiComp 2008)</a:t>
            </a:r>
            <a:r>
              <a:rPr sz="1500">
                <a:solidFill>
                  <a:srgbClr val="1F2937"/>
                </a:solidFill>
                <a:latin typeface="Calibri"/>
              </a:rPr>
              <a:t> infers an unknown destination, uses context</a:t>
            </a:r>
          </a:p>
          <a:p>
            <a:pPr>
              <a:spcAft>
                <a:spcPts val="500"/>
              </a:spcAft>
            </a:pPr>
            <a:r>
              <a:rPr b="1" sz="1500">
                <a:solidFill>
                  <a:srgbClr val="0F766E"/>
                </a:solidFill>
                <a:latin typeface="Calibri"/>
              </a:rPr>
              <a:t>▪ Wulfmeier (2015)</a:t>
            </a:r>
            <a:r>
              <a:rPr sz="1500">
                <a:solidFill>
                  <a:srgbClr val="1F2937"/>
                </a:solidFill>
                <a:latin typeface="Calibri"/>
              </a:rPr>
              <a:t> non-linear rewards</a:t>
            </a:r>
          </a:p>
          <a:p>
            <a:pPr>
              <a:spcAft>
                <a:spcPts val="500"/>
              </a:spcAft>
            </a:pPr>
            <a:r>
              <a:rPr b="1" sz="1500">
                <a:solidFill>
                  <a:srgbClr val="0F766E"/>
                </a:solidFill>
                <a:latin typeface="Calibri"/>
              </a:rPr>
              <a:t>▪ Finn et al. (ICML 2016)</a:t>
            </a:r>
            <a:r>
              <a:rPr sz="1500">
                <a:solidFill>
                  <a:srgbClr val="1F2937"/>
                </a:solidFill>
                <a:latin typeface="Calibri"/>
              </a:rPr>
              <a:t> scales to continuous control</a:t>
            </a:r>
          </a:p>
          <a:p>
            <a:pPr>
              <a:spcAft>
                <a:spcPts val="500"/>
              </a:spcAft>
            </a:pPr>
            <a:r>
              <a:rPr b="1" sz="1500">
                <a:solidFill>
                  <a:srgbClr val="0F766E"/>
                </a:solidFill>
                <a:latin typeface="Calibri"/>
              </a:rPr>
              <a:t>▪ Logit models</a:t>
            </a:r>
            <a:r>
              <a:rPr sz="1500">
                <a:solidFill>
                  <a:srgbClr val="1F2937"/>
                </a:solidFill>
                <a:latin typeface="Calibri"/>
              </a:rPr>
              <a:t> standard errors on parameters</a:t>
            </a:r>
          </a:p>
          <a:p>
            <a:pPr>
              <a:spcAft>
                <a:spcPts val="500"/>
              </a:spcAft>
            </a:pPr>
            <a:r>
              <a:rPr b="1" sz="1500">
                <a:solidFill>
                  <a:srgbClr val="0F766E"/>
                </a:solidFill>
                <a:latin typeface="Calibri"/>
              </a:rPr>
              <a:t>▪ We do not claim</a:t>
            </a:r>
            <a:r>
              <a:rPr sz="1500">
                <a:solidFill>
                  <a:srgbClr val="1F2937"/>
                </a:solidFill>
                <a:latin typeface="Calibri"/>
              </a:rPr>
              <a:t> a new algorithm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MDP FORMULATION</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Our MDP: the course grid-world, translated to roads</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5</a:t>
            </a:r>
          </a:p>
        </p:txBody>
      </p:sp>
      <p:sp>
        <p:nvSpPr>
          <p:cNvPr id="5" name="TextBox 4"/>
          <p:cNvSpPr txBox="1"/>
          <p:nvPr/>
        </p:nvSpPr>
        <p:spPr>
          <a:xfrm>
            <a:off x="548640" y="1371600"/>
            <a:ext cx="3108960" cy="320040"/>
          </a:xfrm>
          <a:prstGeom prst="rect">
            <a:avLst/>
          </a:prstGeom>
          <a:noFill/>
        </p:spPr>
        <p:txBody>
          <a:bodyPr wrap="square" lIns="45720" rIns="45720" tIns="27432" bIns="27432" anchor="t">
            <a:spAutoFit/>
          </a:bodyPr>
          <a:lstStyle/>
          <a:p>
            <a:pPr algn="l"/>
            <a:r>
              <a:rPr sz="1400" b="1" i="0">
                <a:solidFill>
                  <a:srgbClr val="0B1F3A"/>
                </a:solidFill>
                <a:latin typeface="Calibri"/>
              </a:rPr>
              <a:t>Course example (3×4 grid)</a:t>
            </a:r>
          </a:p>
        </p:txBody>
      </p:sp>
      <p:sp>
        <p:nvSpPr>
          <p:cNvPr id="6" name="Rectangle 5"/>
          <p:cNvSpPr/>
          <p:nvPr/>
        </p:nvSpPr>
        <p:spPr>
          <a:xfrm>
            <a:off x="640080" y="1828800"/>
            <a:ext cx="658368" cy="566928"/>
          </a:xfrm>
          <a:prstGeom prst="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−0.5</a:t>
            </a:r>
          </a:p>
        </p:txBody>
      </p:sp>
      <p:sp>
        <p:nvSpPr>
          <p:cNvPr id="7" name="Rectangle 6"/>
          <p:cNvSpPr/>
          <p:nvPr/>
        </p:nvSpPr>
        <p:spPr>
          <a:xfrm>
            <a:off x="1298448" y="1828800"/>
            <a:ext cx="658368" cy="566928"/>
          </a:xfrm>
          <a:prstGeom prst="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−0.5</a:t>
            </a:r>
          </a:p>
        </p:txBody>
      </p:sp>
      <p:sp>
        <p:nvSpPr>
          <p:cNvPr id="8" name="Rectangle 7"/>
          <p:cNvSpPr/>
          <p:nvPr/>
        </p:nvSpPr>
        <p:spPr>
          <a:xfrm>
            <a:off x="1956815" y="1828800"/>
            <a:ext cx="658368" cy="566928"/>
          </a:xfrm>
          <a:prstGeom prst="rect">
            <a:avLst/>
          </a:prstGeom>
          <a:solidFill>
            <a:srgbClr val="FEE2E2"/>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B91C1C"/>
                </a:solidFill>
                <a:latin typeface="Calibri"/>
              </a:rPr>
              <a:t>−2</a:t>
            </a:r>
          </a:p>
        </p:txBody>
      </p:sp>
      <p:sp>
        <p:nvSpPr>
          <p:cNvPr id="9" name="Rectangle 8"/>
          <p:cNvSpPr/>
          <p:nvPr/>
        </p:nvSpPr>
        <p:spPr>
          <a:xfrm>
            <a:off x="640080" y="2395728"/>
            <a:ext cx="658368" cy="566928"/>
          </a:xfrm>
          <a:prstGeom prst="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−0.5</a:t>
            </a:r>
          </a:p>
        </p:txBody>
      </p:sp>
      <p:sp>
        <p:nvSpPr>
          <p:cNvPr id="10" name="Rectangle 9"/>
          <p:cNvSpPr/>
          <p:nvPr/>
        </p:nvSpPr>
        <p:spPr>
          <a:xfrm>
            <a:off x="1298448" y="2395728"/>
            <a:ext cx="658368" cy="566928"/>
          </a:xfrm>
          <a:prstGeom prst="rect">
            <a:avLst/>
          </a:prstGeom>
          <a:solidFill>
            <a:srgbClr val="94A3B8"/>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
            </a:r>
          </a:p>
        </p:txBody>
      </p:sp>
      <p:sp>
        <p:nvSpPr>
          <p:cNvPr id="11" name="Rectangle 10"/>
          <p:cNvSpPr/>
          <p:nvPr/>
        </p:nvSpPr>
        <p:spPr>
          <a:xfrm>
            <a:off x="1956815" y="2395728"/>
            <a:ext cx="658368" cy="566928"/>
          </a:xfrm>
          <a:prstGeom prst="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−0.5</a:t>
            </a:r>
          </a:p>
        </p:txBody>
      </p:sp>
      <p:sp>
        <p:nvSpPr>
          <p:cNvPr id="12" name="Rectangle 11"/>
          <p:cNvSpPr/>
          <p:nvPr/>
        </p:nvSpPr>
        <p:spPr>
          <a:xfrm>
            <a:off x="640080" y="2962656"/>
            <a:ext cx="658368" cy="566928"/>
          </a:xfrm>
          <a:prstGeom prst="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−0.5</a:t>
            </a:r>
          </a:p>
        </p:txBody>
      </p:sp>
      <p:sp>
        <p:nvSpPr>
          <p:cNvPr id="13" name="Rectangle 12"/>
          <p:cNvSpPr/>
          <p:nvPr/>
        </p:nvSpPr>
        <p:spPr>
          <a:xfrm>
            <a:off x="1298448" y="2962656"/>
            <a:ext cx="658368" cy="566928"/>
          </a:xfrm>
          <a:prstGeom prst="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−0.5</a:t>
            </a:r>
          </a:p>
        </p:txBody>
      </p:sp>
      <p:sp>
        <p:nvSpPr>
          <p:cNvPr id="14" name="Rectangle 13"/>
          <p:cNvSpPr/>
          <p:nvPr/>
        </p:nvSpPr>
        <p:spPr>
          <a:xfrm>
            <a:off x="1956815" y="2962656"/>
            <a:ext cx="658368" cy="566928"/>
          </a:xfrm>
          <a:prstGeom prst="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−0.5</a:t>
            </a:r>
          </a:p>
        </p:txBody>
      </p:sp>
      <p:sp>
        <p:nvSpPr>
          <p:cNvPr id="15" name="Rectangle 14"/>
          <p:cNvSpPr/>
          <p:nvPr/>
        </p:nvSpPr>
        <p:spPr>
          <a:xfrm>
            <a:off x="640080" y="3529584"/>
            <a:ext cx="658368" cy="566928"/>
          </a:xfrm>
          <a:prstGeom prst="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−0.5</a:t>
            </a:r>
          </a:p>
        </p:txBody>
      </p:sp>
      <p:sp>
        <p:nvSpPr>
          <p:cNvPr id="16" name="Rectangle 15"/>
          <p:cNvSpPr/>
          <p:nvPr/>
        </p:nvSpPr>
        <p:spPr>
          <a:xfrm>
            <a:off x="1298448" y="3529584"/>
            <a:ext cx="658368" cy="566928"/>
          </a:xfrm>
          <a:prstGeom prst="rect">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64748B"/>
                </a:solidFill>
                <a:latin typeface="Calibri"/>
              </a:rPr>
              <a:t>−0.5</a:t>
            </a:r>
          </a:p>
        </p:txBody>
      </p:sp>
      <p:sp>
        <p:nvSpPr>
          <p:cNvPr id="17" name="Rectangle 16"/>
          <p:cNvSpPr/>
          <p:nvPr/>
        </p:nvSpPr>
        <p:spPr>
          <a:xfrm>
            <a:off x="1956815" y="3529584"/>
            <a:ext cx="658368" cy="566928"/>
          </a:xfrm>
          <a:prstGeom prst="rect">
            <a:avLst/>
          </a:prstGeom>
          <a:solidFill>
            <a:srgbClr val="DCFCE7"/>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5803D"/>
                </a:solidFill>
                <a:latin typeface="Calibri"/>
              </a:rPr>
              <a:t>+2</a:t>
            </a:r>
          </a:p>
        </p:txBody>
      </p:sp>
      <p:sp>
        <p:nvSpPr>
          <p:cNvPr id="18" name="TextBox 17"/>
          <p:cNvSpPr txBox="1"/>
          <p:nvPr/>
        </p:nvSpPr>
        <p:spPr>
          <a:xfrm>
            <a:off x="548640" y="4206240"/>
            <a:ext cx="3291840" cy="1188720"/>
          </a:xfrm>
          <a:prstGeom prst="rect">
            <a:avLst/>
          </a:prstGeom>
          <a:noFill/>
        </p:spPr>
        <p:txBody>
          <a:bodyPr wrap="square" lIns="45720" rIns="45720" tIns="27432" bIns="27432" anchor="t">
            <a:spAutoFit/>
          </a:bodyPr>
          <a:lstStyle/>
          <a:p>
            <a:pPr algn="l"/>
            <a:r>
              <a:rPr sz="1200" b="0" i="0">
                <a:solidFill>
                  <a:srgbClr val="64748B"/>
                </a:solidFill>
                <a:latin typeface="Calibri"/>
              </a:rPr>
              <a:t>0.6 forward, 0.2 slip each side</a:t>
            </a:r>
          </a:p>
          <a:p>
            <a:pPr algn="l"/>
            <a:r>
              <a:rPr sz="1200" b="0" i="0">
                <a:solidFill>
                  <a:srgbClr val="64748B"/>
                </a:solidFill>
                <a:latin typeface="Calibri"/>
              </a:rPr>
              <a:t>step reward −0.5, terminals ±2</a:t>
            </a:r>
          </a:p>
          <a:p>
            <a:pPr algn="l"/>
            <a:r>
              <a:rPr sz="1200" b="0" i="0">
                <a:solidFill>
                  <a:srgbClr val="64748B"/>
                </a:solidFill>
                <a:latin typeface="Calibri"/>
              </a:rPr>
              <a:t>solved by value iteration (max)</a:t>
            </a:r>
          </a:p>
        </p:txBody>
      </p:sp>
      <p:graphicFrame>
        <p:nvGraphicFramePr>
          <p:cNvPr id="19" name="Table 18"/>
          <p:cNvGraphicFramePr>
            <a:graphicFrameLocks noGrp="1"/>
          </p:cNvGraphicFramePr>
          <p:nvPr/>
        </p:nvGraphicFramePr>
        <p:xfrm>
          <a:off x="4114800" y="1417320"/>
          <a:ext cx="7589520" cy="4535424"/>
        </p:xfrm>
        <a:graphic>
          <a:graphicData uri="http://schemas.openxmlformats.org/drawingml/2006/table">
            <a:tbl>
              <a:tblPr firstRow="0" bandRow="0">
                <a:tableStyleId>{5C22544A-7EE6-4342-B048-85BDC9FD1C3A}</a:tableStyleId>
              </a:tblPr>
              <a:tblGrid>
                <a:gridCol w="1097280"/>
                <a:gridCol w="2103120"/>
                <a:gridCol w="4389120"/>
              </a:tblGrid>
              <a:tr h="566928">
                <a:tc>
                  <a:txBody>
                    <a:bodyPr wrap="square"/>
                    <a:lstStyle/>
                    <a:p>
                      <a:r>
                        <a:rPr sz="1300" b="1">
                          <a:solidFill>
                            <a:srgbClr val="FFFFFF"/>
                          </a:solidFill>
                          <a:latin typeface="Calibri"/>
                        </a:rPr>
                        <a:t/>
                      </a:r>
                    </a:p>
                  </a:txBody>
                  <a:tcPr marL="73152" marR="73152" marT="27432" marB="27432" anchor="ctr">
                    <a:solidFill>
                      <a:srgbClr val="0B1F3A"/>
                    </a:solidFill>
                  </a:tcPr>
                </a:tc>
                <a:tc>
                  <a:txBody>
                    <a:bodyPr wrap="square"/>
                    <a:lstStyle/>
                    <a:p>
                      <a:r>
                        <a:rPr sz="1300" b="1">
                          <a:solidFill>
                            <a:srgbClr val="FFFFFF"/>
                          </a:solidFill>
                          <a:latin typeface="Calibri"/>
                        </a:rPr>
                        <a:t>Course grid-world</a:t>
                      </a:r>
                    </a:p>
                  </a:txBody>
                  <a:tcPr marL="73152" marR="73152" marT="27432" marB="27432" anchor="ctr">
                    <a:solidFill>
                      <a:srgbClr val="0B1F3A"/>
                    </a:solidFill>
                  </a:tcPr>
                </a:tc>
                <a:tc>
                  <a:txBody>
                    <a:bodyPr wrap="square"/>
                    <a:lstStyle/>
                    <a:p>
                      <a:r>
                        <a:rPr sz="1300" b="1">
                          <a:solidFill>
                            <a:srgbClr val="FFFFFF"/>
                          </a:solidFill>
                          <a:latin typeface="Calibri"/>
                        </a:rPr>
                        <a:t>Our road MDP</a:t>
                      </a:r>
                    </a:p>
                  </a:txBody>
                  <a:tcPr marL="73152" marR="73152" marT="27432" marB="27432" anchor="ctr">
                    <a:solidFill>
                      <a:srgbClr val="0B1F3A"/>
                    </a:solidFill>
                  </a:tcPr>
                </a:tc>
              </a:tr>
              <a:tr h="566928">
                <a:tc>
                  <a:txBody>
                    <a:bodyPr wrap="square"/>
                    <a:lstStyle/>
                    <a:p>
                      <a:r>
                        <a:rPr sz="1300" b="0">
                          <a:solidFill>
                            <a:srgbClr val="1F2937"/>
                          </a:solidFill>
                          <a:latin typeface="Calibri"/>
                        </a:rPr>
                        <a:t>S</a:t>
                      </a:r>
                    </a:p>
                  </a:txBody>
                  <a:tcPr marL="73152" marR="73152" marT="27432" marB="27432" anchor="ctr">
                    <a:solidFill>
                      <a:srgbClr val="FFFFFF"/>
                    </a:solidFill>
                  </a:tcPr>
                </a:tc>
                <a:tc>
                  <a:txBody>
                    <a:bodyPr wrap="square"/>
                    <a:lstStyle/>
                    <a:p>
                      <a:r>
                        <a:rPr sz="1300" b="0">
                          <a:solidFill>
                            <a:srgbClr val="1F2937"/>
                          </a:solidFill>
                          <a:latin typeface="Calibri"/>
                        </a:rPr>
                        <a:t>Grid cell</a:t>
                      </a:r>
                    </a:p>
                  </a:txBody>
                  <a:tcPr marL="73152" marR="73152" marT="27432" marB="27432" anchor="ctr">
                    <a:solidFill>
                      <a:srgbClr val="FFFFFF"/>
                    </a:solidFill>
                  </a:tcPr>
                </a:tc>
                <a:tc>
                  <a:txBody>
                    <a:bodyPr wrap="square"/>
                    <a:lstStyle/>
                    <a:p>
                      <a:r>
                        <a:rPr sz="1300" b="0">
                          <a:solidFill>
                            <a:srgbClr val="1F2937"/>
                          </a:solidFill>
                          <a:latin typeface="Calibri"/>
                        </a:rPr>
                        <a:t>Incoming directed edge (6,784) + fixed destination d</a:t>
                      </a:r>
                    </a:p>
                  </a:txBody>
                  <a:tcPr marL="73152" marR="73152" marT="27432" marB="27432" anchor="ctr">
                    <a:solidFill>
                      <a:srgbClr val="FFFFFF"/>
                    </a:solidFill>
                  </a:tcPr>
                </a:tc>
              </a:tr>
              <a:tr h="566928">
                <a:tc>
                  <a:txBody>
                    <a:bodyPr wrap="square"/>
                    <a:lstStyle/>
                    <a:p>
                      <a:r>
                        <a:rPr sz="1300" b="0">
                          <a:solidFill>
                            <a:srgbClr val="1F2937"/>
                          </a:solidFill>
                          <a:latin typeface="Calibri"/>
                        </a:rPr>
                        <a:t>A</a:t>
                      </a:r>
                    </a:p>
                  </a:txBody>
                  <a:tcPr marL="73152" marR="73152" marT="27432" marB="27432" anchor="ctr">
                    <a:solidFill>
                      <a:srgbClr val="F1F5F9"/>
                    </a:solidFill>
                  </a:tcPr>
                </a:tc>
                <a:tc>
                  <a:txBody>
                    <a:bodyPr wrap="square"/>
                    <a:lstStyle/>
                    <a:p>
                      <a:r>
                        <a:rPr sz="1300" b="0">
                          <a:solidFill>
                            <a:srgbClr val="1F2937"/>
                          </a:solidFill>
                          <a:latin typeface="Calibri"/>
                        </a:rPr>
                        <a:t>Up/down/left/right</a:t>
                      </a:r>
                    </a:p>
                  </a:txBody>
                  <a:tcPr marL="73152" marR="73152" marT="27432" marB="27432" anchor="ctr">
                    <a:solidFill>
                      <a:srgbClr val="F1F5F9"/>
                    </a:solidFill>
                  </a:tcPr>
                </a:tc>
                <a:tc>
                  <a:txBody>
                    <a:bodyPr wrap="square"/>
                    <a:lstStyle/>
                    <a:p>
                      <a:r>
                        <a:rPr sz="1300" b="0">
                          <a:solidFill>
                            <a:srgbClr val="1F2937"/>
                          </a:solidFill>
                          <a:latin typeface="Calibri"/>
                        </a:rPr>
                        <a:t>Outgoing roads at the junction (2–4)</a:t>
                      </a:r>
                    </a:p>
                  </a:txBody>
                  <a:tcPr marL="73152" marR="73152" marT="27432" marB="27432" anchor="ctr">
                    <a:solidFill>
                      <a:srgbClr val="F1F5F9"/>
                    </a:solidFill>
                  </a:tcPr>
                </a:tc>
              </a:tr>
              <a:tr h="566928">
                <a:tc>
                  <a:txBody>
                    <a:bodyPr wrap="square"/>
                    <a:lstStyle/>
                    <a:p>
                      <a:r>
                        <a:rPr sz="1300" b="0">
                          <a:solidFill>
                            <a:srgbClr val="1F2937"/>
                          </a:solidFill>
                          <a:latin typeface="Calibri"/>
                        </a:rPr>
                        <a:t>P</a:t>
                      </a:r>
                    </a:p>
                  </a:txBody>
                  <a:tcPr marL="73152" marR="73152" marT="27432" marB="27432" anchor="ctr">
                    <a:solidFill>
                      <a:srgbClr val="FFFFFF"/>
                    </a:solidFill>
                  </a:tcPr>
                </a:tc>
                <a:tc>
                  <a:txBody>
                    <a:bodyPr wrap="square"/>
                    <a:lstStyle/>
                    <a:p>
                      <a:r>
                        <a:rPr sz="1300" b="0">
                          <a:solidFill>
                            <a:srgbClr val="1F2937"/>
                          </a:solidFill>
                          <a:latin typeface="Calibri"/>
                        </a:rPr>
                        <a:t>0.6 / 0.2 / 0.2 slip</a:t>
                      </a:r>
                    </a:p>
                  </a:txBody>
                  <a:tcPr marL="73152" marR="73152" marT="27432" marB="27432" anchor="ctr">
                    <a:solidFill>
                      <a:srgbClr val="FFFFFF"/>
                    </a:solidFill>
                  </a:tcPr>
                </a:tc>
                <a:tc>
                  <a:txBody>
                    <a:bodyPr wrap="square"/>
                    <a:lstStyle/>
                    <a:p>
                      <a:r>
                        <a:rPr sz="1300" b="0">
                          <a:solidFill>
                            <a:srgbClr val="1F2937"/>
                          </a:solidFill>
                          <a:latin typeface="Calibri"/>
                        </a:rPr>
                        <a:t>Deterministic, P = 1 (randomness is in the policy)</a:t>
                      </a:r>
                    </a:p>
                  </a:txBody>
                  <a:tcPr marL="73152" marR="73152" marT="27432" marB="27432" anchor="ctr">
                    <a:solidFill>
                      <a:srgbClr val="FFFFFF"/>
                    </a:solidFill>
                  </a:tcPr>
                </a:tc>
              </a:tr>
              <a:tr h="566928">
                <a:tc>
                  <a:txBody>
                    <a:bodyPr wrap="square"/>
                    <a:lstStyle/>
                    <a:p>
                      <a:r>
                        <a:rPr sz="1300" b="0">
                          <a:solidFill>
                            <a:srgbClr val="1F2937"/>
                          </a:solidFill>
                          <a:latin typeface="Calibri"/>
                        </a:rPr>
                        <a:t>R</a:t>
                      </a:r>
                    </a:p>
                  </a:txBody>
                  <a:tcPr marL="73152" marR="73152" marT="27432" marB="27432" anchor="ctr">
                    <a:solidFill>
                      <a:srgbClr val="F1F5F9"/>
                    </a:solidFill>
                  </a:tcPr>
                </a:tc>
                <a:tc>
                  <a:txBody>
                    <a:bodyPr wrap="square"/>
                    <a:lstStyle/>
                    <a:p>
                      <a:r>
                        <a:rPr sz="1300" b="0">
                          <a:solidFill>
                            <a:srgbClr val="1F2937"/>
                          </a:solidFill>
                          <a:latin typeface="Calibri"/>
                        </a:rPr>
                        <a:t>−0.5 per step, ±2</a:t>
                      </a:r>
                    </a:p>
                  </a:txBody>
                  <a:tcPr marL="73152" marR="73152" marT="27432" marB="27432" anchor="ctr">
                    <a:solidFill>
                      <a:srgbClr val="F1F5F9"/>
                    </a:solidFill>
                  </a:tcPr>
                </a:tc>
                <a:tc>
                  <a:txBody>
                    <a:bodyPr wrap="square"/>
                    <a:lstStyle/>
                    <a:p>
                      <a:r>
                        <a:rPr sz="1300" b="0">
                          <a:solidFill>
                            <a:srgbClr val="1F2937"/>
                          </a:solidFill>
                          <a:latin typeface="Calibri"/>
                        </a:rPr>
                        <a:t>R(e,e′) = wᵀφ(e,e′), w unknown: learned by IRL</a:t>
                      </a:r>
                    </a:p>
                  </a:txBody>
                  <a:tcPr marL="73152" marR="73152" marT="27432" marB="27432" anchor="ctr">
                    <a:solidFill>
                      <a:srgbClr val="F1F5F9"/>
                    </a:solidFill>
                  </a:tcPr>
                </a:tc>
              </a:tr>
              <a:tr h="566928">
                <a:tc>
                  <a:txBody>
                    <a:bodyPr wrap="square"/>
                    <a:lstStyle/>
                    <a:p>
                      <a:r>
                        <a:rPr sz="1300" b="0">
                          <a:solidFill>
                            <a:srgbClr val="1F2937"/>
                          </a:solidFill>
                          <a:latin typeface="Calibri"/>
                        </a:rPr>
                        <a:t>Terminals</a:t>
                      </a:r>
                    </a:p>
                  </a:txBody>
                  <a:tcPr marL="73152" marR="73152" marT="27432" marB="27432" anchor="ctr">
                    <a:solidFill>
                      <a:srgbClr val="FFFFFF"/>
                    </a:solidFill>
                  </a:tcPr>
                </a:tc>
                <a:tc>
                  <a:txBody>
                    <a:bodyPr wrap="square"/>
                    <a:lstStyle/>
                    <a:p>
                      <a:r>
                        <a:rPr sz="1300" b="0">
                          <a:solidFill>
                            <a:srgbClr val="1F2937"/>
                          </a:solidFill>
                          <a:latin typeface="Calibri"/>
                        </a:rPr>
                        <a:t>+2 goal, −2 pit</a:t>
                      </a:r>
                    </a:p>
                  </a:txBody>
                  <a:tcPr marL="73152" marR="73152" marT="27432" marB="27432" anchor="ctr">
                    <a:solidFill>
                      <a:srgbClr val="FFFFFF"/>
                    </a:solidFill>
                  </a:tcPr>
                </a:tc>
                <a:tc>
                  <a:txBody>
                    <a:bodyPr wrap="square"/>
                    <a:lstStyle/>
                    <a:p>
                      <a:r>
                        <a:rPr sz="1300" b="0">
                          <a:solidFill>
                            <a:srgbClr val="1F2937"/>
                          </a:solidFill>
                          <a:latin typeface="Calibri"/>
                        </a:rPr>
                        <a:t>+ destination (V = 0)   − dead end (V = −∞, never chosen)</a:t>
                      </a:r>
                    </a:p>
                  </a:txBody>
                  <a:tcPr marL="73152" marR="73152" marT="27432" marB="27432" anchor="ctr">
                    <a:solidFill>
                      <a:srgbClr val="FFFFFF"/>
                    </a:solidFill>
                  </a:tcPr>
                </a:tc>
              </a:tr>
              <a:tr h="566928">
                <a:tc>
                  <a:txBody>
                    <a:bodyPr wrap="square"/>
                    <a:lstStyle/>
                    <a:p>
                      <a:r>
                        <a:rPr sz="1300" b="0">
                          <a:solidFill>
                            <a:srgbClr val="1F2937"/>
                          </a:solidFill>
                          <a:latin typeface="Calibri"/>
                        </a:rPr>
                        <a:t>γ</a:t>
                      </a:r>
                    </a:p>
                  </a:txBody>
                  <a:tcPr marL="73152" marR="73152" marT="27432" marB="27432" anchor="ctr">
                    <a:solidFill>
                      <a:srgbClr val="F1F5F9"/>
                    </a:solidFill>
                  </a:tcPr>
                </a:tc>
                <a:tc>
                  <a:txBody>
                    <a:bodyPr wrap="square"/>
                    <a:lstStyle/>
                    <a:p>
                      <a:r>
                        <a:rPr sz="1300" b="0">
                          <a:solidFill>
                            <a:srgbClr val="1F2937"/>
                          </a:solidFill>
                          <a:latin typeface="Calibri"/>
                        </a:rPr>
                        <a:t>1</a:t>
                      </a:r>
                    </a:p>
                  </a:txBody>
                  <a:tcPr marL="73152" marR="73152" marT="27432" marB="27432" anchor="ctr">
                    <a:solidFill>
                      <a:srgbClr val="F1F5F9"/>
                    </a:solidFill>
                  </a:tcPr>
                </a:tc>
                <a:tc>
                  <a:txBody>
                    <a:bodyPr wrap="square"/>
                    <a:lstStyle/>
                    <a:p>
                      <a:r>
                        <a:rPr sz="1300" b="0">
                          <a:solidFill>
                            <a:srgbClr val="1F2937"/>
                          </a:solidFill>
                          <a:latin typeface="Calibri"/>
                        </a:rPr>
                        <a:t>1, finite horizon H = 80</a:t>
                      </a:r>
                    </a:p>
                  </a:txBody>
                  <a:tcPr marL="73152" marR="73152" marT="27432" marB="27432" anchor="ctr">
                    <a:solidFill>
                      <a:srgbClr val="F1F5F9"/>
                    </a:solidFill>
                  </a:tcPr>
                </a:tc>
              </a:tr>
              <a:tr h="566928">
                <a:tc>
                  <a:txBody>
                    <a:bodyPr wrap="square"/>
                    <a:lstStyle/>
                    <a:p>
                      <a:r>
                        <a:rPr sz="1300" b="0">
                          <a:solidFill>
                            <a:srgbClr val="1F2937"/>
                          </a:solidFill>
                          <a:latin typeface="Calibri"/>
                        </a:rPr>
                        <a:t>V, π</a:t>
                      </a:r>
                    </a:p>
                  </a:txBody>
                  <a:tcPr marL="73152" marR="73152" marT="27432" marB="27432" anchor="ctr">
                    <a:solidFill>
                      <a:srgbClr val="FFFFFF"/>
                    </a:solidFill>
                  </a:tcPr>
                </a:tc>
                <a:tc>
                  <a:txBody>
                    <a:bodyPr wrap="square"/>
                    <a:lstStyle/>
                    <a:p>
                      <a:r>
                        <a:rPr sz="1300" b="0">
                          <a:solidFill>
                            <a:srgbClr val="1F2937"/>
                          </a:solidFill>
                          <a:latin typeface="Calibri"/>
                        </a:rPr>
                        <a:t>V = R + max Σ P V′</a:t>
                      </a:r>
                    </a:p>
                  </a:txBody>
                  <a:tcPr marL="73152" marR="73152" marT="27432" marB="27432" anchor="ctr">
                    <a:solidFill>
                      <a:srgbClr val="FFFFFF"/>
                    </a:solidFill>
                  </a:tcPr>
                </a:tc>
                <a:tc>
                  <a:txBody>
                    <a:bodyPr wrap="square"/>
                    <a:lstStyle/>
                    <a:p>
                      <a:r>
                        <a:rPr sz="1300" b="0">
                          <a:solidFill>
                            <a:srgbClr val="1F2937"/>
                          </a:solidFill>
                          <a:latin typeface="Calibri"/>
                        </a:rPr>
                        <a:t>V(e) = log Σ exp[R + V(e′)],  π = exp(Q − V)</a:t>
                      </a:r>
                    </a:p>
                  </a:txBody>
                  <a:tcPr marL="73152" marR="73152" marT="27432" marB="27432"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MDP FORMULATION</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Worked example: states, actions, terminals</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6</a:t>
            </a:r>
          </a:p>
        </p:txBody>
      </p:sp>
      <p:pic>
        <p:nvPicPr>
          <p:cNvPr id="5" name="Picture 4" descr="mdp_diagram.png"/>
          <p:cNvPicPr>
            <a:picLocks noChangeAspect="1"/>
          </p:cNvPicPr>
          <p:nvPr/>
        </p:nvPicPr>
        <p:blipFill>
          <a:blip r:embed="rId3"/>
          <a:stretch>
            <a:fillRect/>
          </a:stretch>
        </p:blipFill>
        <p:spPr>
          <a:xfrm>
            <a:off x="1691640" y="1280160"/>
            <a:ext cx="8766541" cy="53492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METHOD</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The reward: 11 interpretable features</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7</a:t>
            </a:r>
          </a:p>
        </p:txBody>
      </p:sp>
      <p:graphicFrame>
        <p:nvGraphicFramePr>
          <p:cNvPr id="5" name="Chart 4"/>
          <p:cNvGraphicFramePr>
            <a:graphicFrameLocks noGrp="1"/>
          </p:cNvGraphicFramePr>
          <p:nvPr/>
        </p:nvGraphicFramePr>
        <p:xfrm>
          <a:off x="548640" y="1371600"/>
          <a:ext cx="6675120" cy="4937760"/>
        </p:xfrm>
        <a:graphic>
          <a:graphicData uri="http://schemas.openxmlformats.org/drawingml/2006/chart">
            <c:chart xmlns:c="http://schemas.openxmlformats.org/drawingml/2006/chart" r:id="rId3"/>
          </a:graphicData>
        </a:graphic>
      </p:graphicFrame>
      <p:sp>
        <p:nvSpPr>
          <p:cNvPr id="6" name="Rounded Rectangle 5"/>
          <p:cNvSpPr/>
          <p:nvPr/>
        </p:nvSpPr>
        <p:spPr>
          <a:xfrm>
            <a:off x="7498079" y="1463040"/>
            <a:ext cx="4160520" cy="475488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554480"/>
            <a:ext cx="3840480" cy="320040"/>
          </a:xfrm>
          <a:prstGeom prst="rect">
            <a:avLst/>
          </a:prstGeom>
          <a:noFill/>
        </p:spPr>
        <p:txBody>
          <a:bodyPr wrap="square" lIns="45720" rIns="45720" tIns="27432" bIns="27432" anchor="t">
            <a:spAutoFit/>
          </a:bodyPr>
          <a:lstStyle/>
          <a:p>
            <a:pPr algn="l"/>
            <a:r>
              <a:rPr sz="1800" b="1" i="0">
                <a:solidFill>
                  <a:srgbClr val="0B1F3A"/>
                </a:solidFill>
                <a:latin typeface="Cambria"/>
              </a:rPr>
              <a:t>What it tells us</a:t>
            </a:r>
          </a:p>
        </p:txBody>
      </p:sp>
      <p:sp>
        <p:nvSpPr>
          <p:cNvPr id="8" name="TextBox 7"/>
          <p:cNvSpPr txBox="1"/>
          <p:nvPr/>
        </p:nvSpPr>
        <p:spPr>
          <a:xfrm>
            <a:off x="7680960" y="2011680"/>
            <a:ext cx="3840480" cy="4114800"/>
          </a:xfrm>
          <a:prstGeom prst="rect">
            <a:avLst/>
          </a:prstGeom>
          <a:noFill/>
        </p:spPr>
        <p:txBody>
          <a:bodyPr wrap="square" lIns="45720">
            <a:spAutoFit/>
          </a:bodyPr>
          <a:lstStyle/>
          <a:p>
            <a:pPr>
              <a:spcAft>
                <a:spcPts val="500"/>
              </a:spcAft>
            </a:pPr>
            <a:r>
              <a:rPr b="1" sz="1400">
                <a:solidFill>
                  <a:srgbClr val="0F766E"/>
                </a:solidFill>
                <a:latin typeface="Calibri"/>
              </a:rPr>
              <a:t>▪ Sharp turns / U-turns</a:t>
            </a:r>
            <a:r>
              <a:rPr sz="1400">
                <a:solidFill>
                  <a:srgbClr val="1F2937"/>
                </a:solidFill>
                <a:latin typeface="Calibri"/>
              </a:rPr>
              <a:t> strongest penalty (−1.46)</a:t>
            </a:r>
          </a:p>
          <a:p>
            <a:pPr>
              <a:spcAft>
                <a:spcPts val="500"/>
              </a:spcAft>
            </a:pPr>
            <a:r>
              <a:rPr b="1" sz="1400">
                <a:solidFill>
                  <a:srgbClr val="0F766E"/>
                </a:solidFill>
                <a:latin typeface="Calibri"/>
              </a:rPr>
              <a:t>▪ Familiar edges</a:t>
            </a:r>
            <a:r>
              <a:rPr sz="1400">
                <a:solidFill>
                  <a:srgbClr val="1F2937"/>
                </a:solidFill>
                <a:latin typeface="Calibri"/>
              </a:rPr>
              <a:t> strongest bonus (+0.87): drivers use roads other taxis use</a:t>
            </a:r>
          </a:p>
          <a:p>
            <a:pPr>
              <a:spcAft>
                <a:spcPts val="500"/>
              </a:spcAft>
            </a:pPr>
            <a:r>
              <a:rPr b="1" sz="1400">
                <a:solidFill>
                  <a:srgbClr val="0F766E"/>
                </a:solidFill>
                <a:latin typeface="Calibri"/>
              </a:rPr>
              <a:t>▪ Per-step cost</a:t>
            </a:r>
            <a:r>
              <a:rPr sz="1400">
                <a:solidFill>
                  <a:srgbClr val="1F2937"/>
                </a:solidFill>
                <a:latin typeface="Calibri"/>
              </a:rPr>
              <a:t> −0.67 prefers fewer segments</a:t>
            </a:r>
          </a:p>
          <a:p>
            <a:pPr>
              <a:spcAft>
                <a:spcPts val="500"/>
              </a:spcAft>
            </a:pPr>
            <a:r>
              <a:rPr b="1" sz="1400">
                <a:solidFill>
                  <a:srgbClr val="0F766E"/>
                </a:solidFill>
                <a:latin typeface="Calibri"/>
              </a:rPr>
              <a:t>▪ Slight turns</a:t>
            </a:r>
            <a:r>
              <a:rPr sz="1400">
                <a:solidFill>
                  <a:srgbClr val="1F2937"/>
                </a:solidFill>
                <a:latin typeface="Calibri"/>
              </a:rPr>
              <a:t> −0.52, straight is the reference</a:t>
            </a:r>
          </a:p>
          <a:p>
            <a:pPr>
              <a:spcAft>
                <a:spcPts val="500"/>
              </a:spcAft>
            </a:pPr>
            <a:r>
              <a:rPr b="1" sz="1400">
                <a:solidFill>
                  <a:srgbClr val="0F766E"/>
                </a:solidFill>
                <a:latin typeface="Calibri"/>
              </a:rPr>
              <a:t>▪ Away from goal</a:t>
            </a:r>
            <a:r>
              <a:rPr sz="1400">
                <a:solidFill>
                  <a:srgbClr val="1F2937"/>
                </a:solidFill>
                <a:latin typeface="Calibri"/>
              </a:rPr>
              <a:t> −0.29, goal-directed</a:t>
            </a:r>
          </a:p>
          <a:p>
            <a:pPr>
              <a:spcAft>
                <a:spcPts val="500"/>
              </a:spcAft>
            </a:pPr>
            <a:r>
              <a:rPr b="1" sz="1400">
                <a:solidFill>
                  <a:srgbClr val="0F766E"/>
                </a:solidFill>
                <a:latin typeface="Calibri"/>
              </a:rPr>
              <a:t>▪ Identifiable</a:t>
            </a:r>
            <a:r>
              <a:rPr sz="1400">
                <a:solidFill>
                  <a:srgbClr val="1F2937"/>
                </a:solidFill>
                <a:latin typeface="Calibri"/>
              </a:rPr>
              <a:t> reference levels + step constant fix v1 collinearity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METHOD</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Maximum Entropy IRL with exact soft value iteration</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8</a:t>
            </a:r>
          </a:p>
        </p:txBody>
      </p:sp>
      <p:sp>
        <p:nvSpPr>
          <p:cNvPr id="5" name="Rounded Rectangle 4"/>
          <p:cNvSpPr/>
          <p:nvPr/>
        </p:nvSpPr>
        <p:spPr>
          <a:xfrm>
            <a:off x="548640" y="1554480"/>
            <a:ext cx="2606040" cy="23317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1691640"/>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1</a:t>
            </a:r>
          </a:p>
        </p:txBody>
      </p:sp>
      <p:sp>
        <p:nvSpPr>
          <p:cNvPr id="7" name="TextBox 6"/>
          <p:cNvSpPr txBox="1"/>
          <p:nvPr/>
        </p:nvSpPr>
        <p:spPr>
          <a:xfrm>
            <a:off x="1234440" y="1719072"/>
            <a:ext cx="1828800" cy="411480"/>
          </a:xfrm>
          <a:prstGeom prst="rect">
            <a:avLst/>
          </a:prstGeom>
          <a:noFill/>
        </p:spPr>
        <p:txBody>
          <a:bodyPr wrap="square" lIns="45720" rIns="45720" tIns="27432" bIns="27432" anchor="t">
            <a:spAutoFit/>
          </a:bodyPr>
          <a:lstStyle/>
          <a:p>
            <a:pPr algn="l"/>
            <a:r>
              <a:rPr sz="1600" b="1" i="0">
                <a:solidFill>
                  <a:srgbClr val="0B1F3A"/>
                </a:solidFill>
                <a:latin typeface="Cambria"/>
              </a:rPr>
              <a:t>Backward pass</a:t>
            </a:r>
          </a:p>
        </p:txBody>
      </p:sp>
      <p:sp>
        <p:nvSpPr>
          <p:cNvPr id="8" name="TextBox 7"/>
          <p:cNvSpPr txBox="1"/>
          <p:nvPr/>
        </p:nvSpPr>
        <p:spPr>
          <a:xfrm>
            <a:off x="685800" y="2331720"/>
            <a:ext cx="2377440" cy="1463040"/>
          </a:xfrm>
          <a:prstGeom prst="rect">
            <a:avLst/>
          </a:prstGeom>
          <a:noFill/>
        </p:spPr>
        <p:txBody>
          <a:bodyPr wrap="square" lIns="45720" rIns="45720" tIns="27432" bIns="27432" anchor="t">
            <a:spAutoFit/>
          </a:bodyPr>
          <a:lstStyle/>
          <a:p>
            <a:pPr algn="l"/>
            <a:r>
              <a:rPr sz="1300" b="0" i="0">
                <a:solidFill>
                  <a:srgbClr val="1F2937"/>
                </a:solidFill>
                <a:latin typeface="Calibri"/>
              </a:rPr>
              <a:t>Soft value iteration</a:t>
            </a:r>
          </a:p>
          <a:p>
            <a:pPr algn="l"/>
            <a:r>
              <a:rPr sz="1300" b="0" i="0">
                <a:solidFill>
                  <a:srgbClr val="1F2937"/>
                </a:solidFill>
                <a:latin typeface="Calibri"/>
              </a:rPr>
              <a:t>V(e) = log Σ exp[R + V(e′)]</a:t>
            </a:r>
          </a:p>
          <a:p>
            <a:pPr algn="l"/>
            <a:r>
              <a:rPr sz="1300" b="0" i="0">
                <a:solidFill>
                  <a:srgbClr val="1F2937"/>
                </a:solidFill>
                <a:latin typeface="Calibri"/>
              </a:rPr>
              <a:t>Q, π = exp(Q − V)</a:t>
            </a:r>
          </a:p>
        </p:txBody>
      </p:sp>
      <p:sp>
        <p:nvSpPr>
          <p:cNvPr id="9" name="Rounded Rectangle 8"/>
          <p:cNvSpPr/>
          <p:nvPr/>
        </p:nvSpPr>
        <p:spPr>
          <a:xfrm>
            <a:off x="3383280" y="1554480"/>
            <a:ext cx="2606040" cy="23317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20440" y="169164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2</a:t>
            </a:r>
          </a:p>
        </p:txBody>
      </p:sp>
      <p:sp>
        <p:nvSpPr>
          <p:cNvPr id="11" name="TextBox 10"/>
          <p:cNvSpPr txBox="1"/>
          <p:nvPr/>
        </p:nvSpPr>
        <p:spPr>
          <a:xfrm>
            <a:off x="4069080" y="1719072"/>
            <a:ext cx="1828800" cy="411480"/>
          </a:xfrm>
          <a:prstGeom prst="rect">
            <a:avLst/>
          </a:prstGeom>
          <a:noFill/>
        </p:spPr>
        <p:txBody>
          <a:bodyPr wrap="square" lIns="45720" rIns="45720" tIns="27432" bIns="27432" anchor="t">
            <a:spAutoFit/>
          </a:bodyPr>
          <a:lstStyle/>
          <a:p>
            <a:pPr algn="l"/>
            <a:r>
              <a:rPr sz="1600" b="1" i="0">
                <a:solidFill>
                  <a:srgbClr val="0B1F3A"/>
                </a:solidFill>
                <a:latin typeface="Cambria"/>
              </a:rPr>
              <a:t>Forward pass</a:t>
            </a:r>
          </a:p>
        </p:txBody>
      </p:sp>
      <p:sp>
        <p:nvSpPr>
          <p:cNvPr id="12" name="TextBox 11"/>
          <p:cNvSpPr txBox="1"/>
          <p:nvPr/>
        </p:nvSpPr>
        <p:spPr>
          <a:xfrm>
            <a:off x="3520440" y="2331720"/>
            <a:ext cx="2377440" cy="1463040"/>
          </a:xfrm>
          <a:prstGeom prst="rect">
            <a:avLst/>
          </a:prstGeom>
          <a:noFill/>
        </p:spPr>
        <p:txBody>
          <a:bodyPr wrap="square" lIns="45720" rIns="45720" tIns="27432" bIns="27432" anchor="t">
            <a:spAutoFit/>
          </a:bodyPr>
          <a:lstStyle/>
          <a:p>
            <a:pPr algn="l"/>
            <a:r>
              <a:rPr sz="1300" b="0" i="0">
                <a:solidFill>
                  <a:srgbClr val="1F2937"/>
                </a:solidFill>
                <a:latin typeface="Calibri"/>
              </a:rPr>
              <a:t>Expected state-visit</a:t>
            </a:r>
          </a:p>
          <a:p>
            <a:pPr algn="l"/>
            <a:r>
              <a:rPr sz="1300" b="0" i="0">
                <a:solidFill>
                  <a:srgbClr val="1F2937"/>
                </a:solidFill>
                <a:latin typeface="Calibri"/>
              </a:rPr>
              <a:t>frequencies under π</a:t>
            </a:r>
          </a:p>
          <a:p>
            <a:pPr algn="l"/>
            <a:r>
              <a:rPr sz="1300" b="0" i="0">
                <a:solidFill>
                  <a:srgbClr val="1F2937"/>
                </a:solidFill>
                <a:latin typeface="Calibri"/>
              </a:rPr>
              <a:t>→ E_π[φ]</a:t>
            </a:r>
          </a:p>
        </p:txBody>
      </p:sp>
      <p:sp>
        <p:nvSpPr>
          <p:cNvPr id="13" name="Rounded Rectangle 12"/>
          <p:cNvSpPr/>
          <p:nvPr/>
        </p:nvSpPr>
        <p:spPr>
          <a:xfrm>
            <a:off x="6217920" y="1554480"/>
            <a:ext cx="2606040" cy="23317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5080" y="169164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3</a:t>
            </a:r>
          </a:p>
        </p:txBody>
      </p:sp>
      <p:sp>
        <p:nvSpPr>
          <p:cNvPr id="15" name="TextBox 14"/>
          <p:cNvSpPr txBox="1"/>
          <p:nvPr/>
        </p:nvSpPr>
        <p:spPr>
          <a:xfrm>
            <a:off x="6903720" y="1719072"/>
            <a:ext cx="1828800" cy="411480"/>
          </a:xfrm>
          <a:prstGeom prst="rect">
            <a:avLst/>
          </a:prstGeom>
          <a:noFill/>
        </p:spPr>
        <p:txBody>
          <a:bodyPr wrap="square" lIns="45720" rIns="45720" tIns="27432" bIns="27432" anchor="t">
            <a:spAutoFit/>
          </a:bodyPr>
          <a:lstStyle/>
          <a:p>
            <a:pPr algn="l"/>
            <a:r>
              <a:rPr sz="1600" b="1" i="0">
                <a:solidFill>
                  <a:srgbClr val="0B1F3A"/>
                </a:solidFill>
                <a:latin typeface="Cambria"/>
              </a:rPr>
              <a:t>Gradient</a:t>
            </a:r>
          </a:p>
        </p:txBody>
      </p:sp>
      <p:sp>
        <p:nvSpPr>
          <p:cNvPr id="16" name="TextBox 15"/>
          <p:cNvSpPr txBox="1"/>
          <p:nvPr/>
        </p:nvSpPr>
        <p:spPr>
          <a:xfrm>
            <a:off x="6355080" y="2331720"/>
            <a:ext cx="2377440" cy="1463040"/>
          </a:xfrm>
          <a:prstGeom prst="rect">
            <a:avLst/>
          </a:prstGeom>
          <a:noFill/>
        </p:spPr>
        <p:txBody>
          <a:bodyPr wrap="square" lIns="45720" rIns="45720" tIns="27432" bIns="27432" anchor="t">
            <a:spAutoFit/>
          </a:bodyPr>
          <a:lstStyle/>
          <a:p>
            <a:pPr algn="l"/>
            <a:r>
              <a:rPr sz="1300" b="0" i="0">
                <a:solidFill>
                  <a:srgbClr val="1F2937"/>
                </a:solidFill>
                <a:latin typeface="Calibri"/>
              </a:rPr>
              <a:t>∇ = E_π[φ] − φ_expert + λw</a:t>
            </a:r>
          </a:p>
          <a:p>
            <a:pPr algn="l"/>
            <a:r>
              <a:rPr sz="1300" b="0" i="0">
                <a:solidFill>
                  <a:srgbClr val="1F2937"/>
                </a:solidFill>
                <a:latin typeface="Calibri"/>
              </a:rPr>
              <a:t>(exact, no sampling)</a:t>
            </a:r>
          </a:p>
        </p:txBody>
      </p:sp>
      <p:sp>
        <p:nvSpPr>
          <p:cNvPr id="17" name="Rounded Rectangle 16"/>
          <p:cNvSpPr/>
          <p:nvPr/>
        </p:nvSpPr>
        <p:spPr>
          <a:xfrm>
            <a:off x="9052560" y="1554480"/>
            <a:ext cx="2606040" cy="23317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89720" y="169164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4</a:t>
            </a:r>
          </a:p>
        </p:txBody>
      </p:sp>
      <p:sp>
        <p:nvSpPr>
          <p:cNvPr id="19" name="TextBox 18"/>
          <p:cNvSpPr txBox="1"/>
          <p:nvPr/>
        </p:nvSpPr>
        <p:spPr>
          <a:xfrm>
            <a:off x="9738360" y="1719072"/>
            <a:ext cx="1828800" cy="411480"/>
          </a:xfrm>
          <a:prstGeom prst="rect">
            <a:avLst/>
          </a:prstGeom>
          <a:noFill/>
        </p:spPr>
        <p:txBody>
          <a:bodyPr wrap="square" lIns="45720" rIns="45720" tIns="27432" bIns="27432" anchor="t">
            <a:spAutoFit/>
          </a:bodyPr>
          <a:lstStyle/>
          <a:p>
            <a:pPr algn="l"/>
            <a:r>
              <a:rPr sz="1600" b="1" i="0">
                <a:solidFill>
                  <a:srgbClr val="0B1F3A"/>
                </a:solidFill>
                <a:latin typeface="Cambria"/>
              </a:rPr>
              <a:t>L-BFGS-B</a:t>
            </a:r>
          </a:p>
        </p:txBody>
      </p:sp>
      <p:sp>
        <p:nvSpPr>
          <p:cNvPr id="20" name="TextBox 19"/>
          <p:cNvSpPr txBox="1"/>
          <p:nvPr/>
        </p:nvSpPr>
        <p:spPr>
          <a:xfrm>
            <a:off x="9189720" y="2331720"/>
            <a:ext cx="2377440" cy="1463040"/>
          </a:xfrm>
          <a:prstGeom prst="rect">
            <a:avLst/>
          </a:prstGeom>
          <a:noFill/>
        </p:spPr>
        <p:txBody>
          <a:bodyPr wrap="square" lIns="45720" rIns="45720" tIns="27432" bIns="27432" anchor="t">
            <a:spAutoFit/>
          </a:bodyPr>
          <a:lstStyle/>
          <a:p>
            <a:pPr algn="l"/>
            <a:r>
              <a:rPr sz="1300" b="0" i="0">
                <a:solidFill>
                  <a:srgbClr val="1F2937"/>
                </a:solidFill>
                <a:latin typeface="Calibri"/>
              </a:rPr>
              <a:t>Update w, repeat</a:t>
            </a:r>
          </a:p>
          <a:p>
            <a:pPr algn="l"/>
            <a:r>
              <a:rPr sz="1300" b="0" i="0">
                <a:solidFill>
                  <a:srgbClr val="1F2937"/>
                </a:solidFill>
                <a:latin typeface="Calibri"/>
              </a:rPr>
              <a:t>(~25–35 iterations)</a:t>
            </a:r>
          </a:p>
        </p:txBody>
      </p:sp>
      <p:sp>
        <p:nvSpPr>
          <p:cNvPr id="21" name="Rounded Rectangle 20"/>
          <p:cNvSpPr/>
          <p:nvPr/>
        </p:nvSpPr>
        <p:spPr>
          <a:xfrm>
            <a:off x="548640" y="4160520"/>
            <a:ext cx="11109960" cy="201168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297680"/>
            <a:ext cx="5212080" cy="1828800"/>
          </a:xfrm>
          <a:prstGeom prst="rect">
            <a:avLst/>
          </a:prstGeom>
          <a:noFill/>
        </p:spPr>
        <p:txBody>
          <a:bodyPr wrap="square" lIns="45720">
            <a:spAutoFit/>
          </a:bodyPr>
          <a:lstStyle/>
          <a:p>
            <a:pPr>
              <a:spcAft>
                <a:spcPts val="500"/>
              </a:spcAft>
            </a:pPr>
            <a:r>
              <a:rPr b="1" sz="1400">
                <a:solidFill>
                  <a:srgbClr val="0F766E"/>
                </a:solidFill>
                <a:latin typeface="Calibri"/>
              </a:rPr>
              <a:t>▪ Trajectory probability</a:t>
            </a:r>
            <a:r>
              <a:rPr sz="1400">
                <a:solidFill>
                  <a:srgbClr val="1F2937"/>
                </a:solidFill>
                <a:latin typeface="Calibri"/>
              </a:rPr>
              <a:t> P(τ|w) = exp(wᵀφ(τ)) / Z</a:t>
            </a:r>
          </a:p>
          <a:p>
            <a:pPr>
              <a:spcAft>
                <a:spcPts val="500"/>
              </a:spcAft>
            </a:pPr>
            <a:r>
              <a:rPr b="1" sz="1400">
                <a:solidFill>
                  <a:srgbClr val="0F766E"/>
                </a:solidFill>
                <a:latin typeface="Calibri"/>
              </a:rPr>
              <a:t>▪ Route prediction</a:t>
            </a:r>
            <a:r>
              <a:rPr sz="1400">
                <a:solidFill>
                  <a:srgbClr val="1F2937"/>
                </a:solidFill>
                <a:latin typeface="Calibri"/>
              </a:rPr>
              <a:t> Viterbi/Dijkstra on V(e) − Q(e,e′)</a:t>
            </a:r>
          </a:p>
          <a:p>
            <a:pPr>
              <a:spcAft>
                <a:spcPts val="500"/>
              </a:spcAft>
            </a:pPr>
            <a:r>
              <a:rPr b="1" sz="1400">
                <a:solidFill>
                  <a:srgbClr val="0F766E"/>
                </a:solidFill>
                <a:latin typeface="Calibri"/>
              </a:rPr>
              <a:t>▪ Calibration</a:t>
            </a:r>
            <a:r>
              <a:rPr sz="1400">
                <a:solidFill>
                  <a:srgbClr val="1F2937"/>
                </a:solidFill>
                <a:latin typeface="Calibri"/>
              </a:rPr>
              <a:t> extra length penalty α chosen on a validation slice, never on test</a:t>
            </a:r>
          </a:p>
        </p:txBody>
      </p:sp>
      <p:sp>
        <p:nvSpPr>
          <p:cNvPr id="23" name="TextBox 22"/>
          <p:cNvSpPr txBox="1"/>
          <p:nvPr/>
        </p:nvSpPr>
        <p:spPr>
          <a:xfrm>
            <a:off x="6217920" y="4297680"/>
            <a:ext cx="5303520" cy="1828800"/>
          </a:xfrm>
          <a:prstGeom prst="rect">
            <a:avLst/>
          </a:prstGeom>
          <a:noFill/>
        </p:spPr>
        <p:txBody>
          <a:bodyPr wrap="square" lIns="45720">
            <a:spAutoFit/>
          </a:bodyPr>
          <a:lstStyle/>
          <a:p>
            <a:pPr>
              <a:spcAft>
                <a:spcPts val="500"/>
              </a:spcAft>
            </a:pPr>
            <a:r>
              <a:rPr b="1" sz="1400">
                <a:solidFill>
                  <a:srgbClr val="0F766E"/>
                </a:solidFill>
                <a:latin typeface="Calibri"/>
              </a:rPr>
              <a:t>▪ Why exact</a:t>
            </a:r>
            <a:r>
              <a:rPr sz="1400">
                <a:solidFill>
                  <a:srgbClr val="1F2937"/>
                </a:solidFill>
                <a:latin typeface="Calibri"/>
              </a:rPr>
              <a:t> small discrete MDP, so DP replaces sampling</a:t>
            </a:r>
          </a:p>
          <a:p>
            <a:pPr>
              <a:spcAft>
                <a:spcPts val="500"/>
              </a:spcAft>
            </a:pPr>
            <a:r>
              <a:rPr b="1" sz="1400">
                <a:solidFill>
                  <a:srgbClr val="0F766E"/>
                </a:solidFill>
                <a:latin typeface="Calibri"/>
              </a:rPr>
              <a:t>▪ Verified</a:t>
            </a:r>
            <a:r>
              <a:rPr sz="1400">
                <a:solidFill>
                  <a:srgbClr val="1F2937"/>
                </a:solidFill>
                <a:latin typeface="Calibri"/>
              </a:rPr>
              <a:t> finite-difference gradient test, relative error ~1e-8</a:t>
            </a:r>
          </a:p>
          <a:p>
            <a:pPr>
              <a:spcAft>
                <a:spcPts val="500"/>
              </a:spcAft>
            </a:pPr>
            <a:r>
              <a:rPr b="1" sz="1400">
                <a:solidFill>
                  <a:srgbClr val="0F766E"/>
                </a:solidFill>
                <a:latin typeface="Calibri"/>
              </a:rPr>
              <a:t>▪ Cost</a:t>
            </a:r>
            <a:r>
              <a:rPr sz="1400">
                <a:solidFill>
                  <a:srgbClr val="1F2937"/>
                </a:solidFill>
                <a:latin typeface="Calibri"/>
              </a:rPr>
              <a:t> ~13 min per fold on 8 CPU cores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METHOD</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Data pipeline: from taxi GPS to road edges</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9</a:t>
            </a:r>
          </a:p>
        </p:txBody>
      </p:sp>
      <p:sp>
        <p:nvSpPr>
          <p:cNvPr id="5" name="Rounded Rectangle 4"/>
          <p:cNvSpPr/>
          <p:nvPr/>
        </p:nvSpPr>
        <p:spPr>
          <a:xfrm>
            <a:off x="548640" y="1554480"/>
            <a:ext cx="2103120" cy="16459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64208"/>
            <a:ext cx="1920240" cy="457200"/>
          </a:xfrm>
          <a:prstGeom prst="rect">
            <a:avLst/>
          </a:prstGeom>
          <a:noFill/>
        </p:spPr>
        <p:txBody>
          <a:bodyPr wrap="square" lIns="45720" rIns="45720" tIns="27432" bIns="27432" anchor="t">
            <a:spAutoFit/>
          </a:bodyPr>
          <a:lstStyle/>
          <a:p>
            <a:pPr algn="ctr"/>
            <a:r>
              <a:rPr sz="1500" b="1" i="0">
                <a:solidFill>
                  <a:srgbClr val="0B1F3A"/>
                </a:solidFill>
                <a:latin typeface="Cambria"/>
              </a:rPr>
              <a:t>Porto taxi GPS</a:t>
            </a:r>
          </a:p>
        </p:txBody>
      </p:sp>
      <p:sp>
        <p:nvSpPr>
          <p:cNvPr id="7" name="TextBox 6"/>
          <p:cNvSpPr txBox="1"/>
          <p:nvPr/>
        </p:nvSpPr>
        <p:spPr>
          <a:xfrm>
            <a:off x="640080" y="2240280"/>
            <a:ext cx="1920240" cy="868680"/>
          </a:xfrm>
          <a:prstGeom prst="rect">
            <a:avLst/>
          </a:prstGeom>
          <a:noFill/>
        </p:spPr>
        <p:txBody>
          <a:bodyPr wrap="square" lIns="45720" rIns="45720" tIns="27432" bIns="27432" anchor="t">
            <a:spAutoFit/>
          </a:bodyPr>
          <a:lstStyle/>
          <a:p>
            <a:pPr algn="ctr"/>
            <a:r>
              <a:rPr sz="1250" b="0" i="0">
                <a:solidFill>
                  <a:srgbClr val="1F2937"/>
                </a:solidFill>
                <a:latin typeface="Calibri"/>
              </a:rPr>
              <a:t>ECML/PKDD 2015</a:t>
            </a:r>
          </a:p>
          <a:p>
            <a:pPr algn="ctr"/>
            <a:r>
              <a:rPr sz="1250" b="0" i="0">
                <a:solidFill>
                  <a:srgbClr val="1F2937"/>
                </a:solidFill>
                <a:latin typeface="Calibri"/>
              </a:rPr>
              <a:t>central bbox filter</a:t>
            </a:r>
          </a:p>
        </p:txBody>
      </p:sp>
      <p:sp>
        <p:nvSpPr>
          <p:cNvPr id="8" name="TextBox 7"/>
          <p:cNvSpPr txBox="1"/>
          <p:nvPr/>
        </p:nvSpPr>
        <p:spPr>
          <a:xfrm>
            <a:off x="2633472" y="2103120"/>
            <a:ext cx="274320" cy="457200"/>
          </a:xfrm>
          <a:prstGeom prst="rect">
            <a:avLst/>
          </a:prstGeom>
          <a:noFill/>
        </p:spPr>
        <p:txBody>
          <a:bodyPr wrap="square" lIns="45720" rIns="45720" tIns="27432" bIns="27432" anchor="t">
            <a:spAutoFit/>
          </a:bodyPr>
          <a:lstStyle/>
          <a:p>
            <a:pPr algn="ctr"/>
            <a:r>
              <a:rPr sz="2200" b="1" i="0">
                <a:solidFill>
                  <a:srgbClr val="0F766E"/>
                </a:solidFill>
                <a:latin typeface="Calibri"/>
              </a:rPr>
              <a:t>→</a:t>
            </a:r>
          </a:p>
        </p:txBody>
      </p:sp>
      <p:sp>
        <p:nvSpPr>
          <p:cNvPr id="9" name="Rounded Rectangle 8"/>
          <p:cNvSpPr/>
          <p:nvPr/>
        </p:nvSpPr>
        <p:spPr>
          <a:xfrm>
            <a:off x="2834640" y="1554480"/>
            <a:ext cx="2103120" cy="16459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1664208"/>
            <a:ext cx="1920240" cy="457200"/>
          </a:xfrm>
          <a:prstGeom prst="rect">
            <a:avLst/>
          </a:prstGeom>
          <a:noFill/>
        </p:spPr>
        <p:txBody>
          <a:bodyPr wrap="square" lIns="45720" rIns="45720" tIns="27432" bIns="27432" anchor="t">
            <a:spAutoFit/>
          </a:bodyPr>
          <a:lstStyle/>
          <a:p>
            <a:pPr algn="ctr"/>
            <a:r>
              <a:rPr sz="1500" b="1" i="0">
                <a:solidFill>
                  <a:srgbClr val="0B1F3A"/>
                </a:solidFill>
                <a:latin typeface="Cambria"/>
              </a:rPr>
              <a:t>HMM map matching</a:t>
            </a:r>
          </a:p>
        </p:txBody>
      </p:sp>
      <p:sp>
        <p:nvSpPr>
          <p:cNvPr id="11" name="TextBox 10"/>
          <p:cNvSpPr txBox="1"/>
          <p:nvPr/>
        </p:nvSpPr>
        <p:spPr>
          <a:xfrm>
            <a:off x="2926080" y="2240280"/>
            <a:ext cx="1920240" cy="868680"/>
          </a:xfrm>
          <a:prstGeom prst="rect">
            <a:avLst/>
          </a:prstGeom>
          <a:noFill/>
        </p:spPr>
        <p:txBody>
          <a:bodyPr wrap="square" lIns="45720" rIns="45720" tIns="27432" bIns="27432" anchor="t">
            <a:spAutoFit/>
          </a:bodyPr>
          <a:lstStyle/>
          <a:p>
            <a:pPr algn="ctr"/>
            <a:r>
              <a:rPr sz="1250" b="0" i="0">
                <a:solidFill>
                  <a:srgbClr val="1F2937"/>
                </a:solidFill>
                <a:latin typeface="Calibri"/>
              </a:rPr>
              <a:t>7,528 tried</a:t>
            </a:r>
          </a:p>
          <a:p>
            <a:pPr algn="ctr"/>
            <a:r>
              <a:rPr sz="1250" b="0" i="0">
                <a:solidFill>
                  <a:srgbClr val="1F2937"/>
                </a:solidFill>
                <a:latin typeface="Calibri"/>
              </a:rPr>
              <a:t>3,000 matched (40%)</a:t>
            </a:r>
          </a:p>
        </p:txBody>
      </p:sp>
      <p:sp>
        <p:nvSpPr>
          <p:cNvPr id="12" name="TextBox 11"/>
          <p:cNvSpPr txBox="1"/>
          <p:nvPr/>
        </p:nvSpPr>
        <p:spPr>
          <a:xfrm>
            <a:off x="4919472" y="2103120"/>
            <a:ext cx="274320" cy="457200"/>
          </a:xfrm>
          <a:prstGeom prst="rect">
            <a:avLst/>
          </a:prstGeom>
          <a:noFill/>
        </p:spPr>
        <p:txBody>
          <a:bodyPr wrap="square" lIns="45720" rIns="45720" tIns="27432" bIns="27432" anchor="t">
            <a:spAutoFit/>
          </a:bodyPr>
          <a:lstStyle/>
          <a:p>
            <a:pPr algn="ctr"/>
            <a:r>
              <a:rPr sz="2200" b="1" i="0">
                <a:solidFill>
                  <a:srgbClr val="0F766E"/>
                </a:solidFill>
                <a:latin typeface="Calibri"/>
              </a:rPr>
              <a:t>→</a:t>
            </a:r>
          </a:p>
        </p:txBody>
      </p:sp>
      <p:sp>
        <p:nvSpPr>
          <p:cNvPr id="13" name="Rounded Rectangle 12"/>
          <p:cNvSpPr/>
          <p:nvPr/>
        </p:nvSpPr>
        <p:spPr>
          <a:xfrm>
            <a:off x="5120640" y="1554480"/>
            <a:ext cx="2103120" cy="16459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79" y="1664208"/>
            <a:ext cx="1920240" cy="457200"/>
          </a:xfrm>
          <a:prstGeom prst="rect">
            <a:avLst/>
          </a:prstGeom>
          <a:noFill/>
        </p:spPr>
        <p:txBody>
          <a:bodyPr wrap="square" lIns="45720" rIns="45720" tIns="27432" bIns="27432" anchor="t">
            <a:spAutoFit/>
          </a:bodyPr>
          <a:lstStyle/>
          <a:p>
            <a:pPr algn="ctr"/>
            <a:r>
              <a:rPr sz="1500" b="1" i="0">
                <a:solidFill>
                  <a:srgbClr val="0B1F3A"/>
                </a:solidFill>
                <a:latin typeface="Cambria"/>
              </a:rPr>
              <a:t>Edge sequences</a:t>
            </a:r>
          </a:p>
        </p:txBody>
      </p:sp>
      <p:sp>
        <p:nvSpPr>
          <p:cNvPr id="15" name="TextBox 14"/>
          <p:cNvSpPr txBox="1"/>
          <p:nvPr/>
        </p:nvSpPr>
        <p:spPr>
          <a:xfrm>
            <a:off x="5212079" y="2240280"/>
            <a:ext cx="1920240" cy="868680"/>
          </a:xfrm>
          <a:prstGeom prst="rect">
            <a:avLst/>
          </a:prstGeom>
          <a:noFill/>
        </p:spPr>
        <p:txBody>
          <a:bodyPr wrap="square" lIns="45720" rIns="45720" tIns="27432" bIns="27432" anchor="t">
            <a:spAutoFit/>
          </a:bodyPr>
          <a:lstStyle/>
          <a:p>
            <a:pPr algn="ctr"/>
            <a:r>
              <a:rPr sz="1250" b="0" i="0">
                <a:solidFill>
                  <a:srgbClr val="1F2937"/>
                </a:solidFill>
                <a:latin typeface="Calibri"/>
              </a:rPr>
              <a:t>5–75 edges per trip</a:t>
            </a:r>
          </a:p>
          <a:p>
            <a:pPr algn="ctr"/>
            <a:r>
              <a:rPr sz="1250" b="0" i="0">
                <a:solidFill>
                  <a:srgbClr val="1F2937"/>
                </a:solidFill>
                <a:latin typeface="Calibri"/>
              </a:rPr>
              <a:t>with context</a:t>
            </a:r>
          </a:p>
        </p:txBody>
      </p:sp>
      <p:sp>
        <p:nvSpPr>
          <p:cNvPr id="16" name="TextBox 15"/>
          <p:cNvSpPr txBox="1"/>
          <p:nvPr/>
        </p:nvSpPr>
        <p:spPr>
          <a:xfrm>
            <a:off x="7205471" y="2103120"/>
            <a:ext cx="274320" cy="457200"/>
          </a:xfrm>
          <a:prstGeom prst="rect">
            <a:avLst/>
          </a:prstGeom>
          <a:noFill/>
        </p:spPr>
        <p:txBody>
          <a:bodyPr wrap="square" lIns="45720" rIns="45720" tIns="27432" bIns="27432" anchor="t">
            <a:spAutoFit/>
          </a:bodyPr>
          <a:lstStyle/>
          <a:p>
            <a:pPr algn="ctr"/>
            <a:r>
              <a:rPr sz="2200" b="1" i="0">
                <a:solidFill>
                  <a:srgbClr val="0F766E"/>
                </a:solidFill>
                <a:latin typeface="Calibri"/>
              </a:rPr>
              <a:t>→</a:t>
            </a:r>
          </a:p>
        </p:txBody>
      </p:sp>
      <p:sp>
        <p:nvSpPr>
          <p:cNvPr id="17" name="Rounded Rectangle 16"/>
          <p:cNvSpPr/>
          <p:nvPr/>
        </p:nvSpPr>
        <p:spPr>
          <a:xfrm>
            <a:off x="7406640" y="1554480"/>
            <a:ext cx="2103120" cy="16459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79" y="1664208"/>
            <a:ext cx="1920240" cy="457200"/>
          </a:xfrm>
          <a:prstGeom prst="rect">
            <a:avLst/>
          </a:prstGeom>
          <a:noFill/>
        </p:spPr>
        <p:txBody>
          <a:bodyPr wrap="square" lIns="45720" rIns="45720" tIns="27432" bIns="27432" anchor="t">
            <a:spAutoFit/>
          </a:bodyPr>
          <a:lstStyle/>
          <a:p>
            <a:pPr algn="ctr"/>
            <a:r>
              <a:rPr sz="1500" b="1" i="0">
                <a:solidFill>
                  <a:srgbClr val="0B1F3A"/>
                </a:solidFill>
                <a:latin typeface="Cambria"/>
              </a:rPr>
              <a:t>MaxEnt IRL</a:t>
            </a:r>
          </a:p>
        </p:txBody>
      </p:sp>
      <p:sp>
        <p:nvSpPr>
          <p:cNvPr id="19" name="TextBox 18"/>
          <p:cNvSpPr txBox="1"/>
          <p:nvPr/>
        </p:nvSpPr>
        <p:spPr>
          <a:xfrm>
            <a:off x="7498079" y="2240280"/>
            <a:ext cx="1920240" cy="868680"/>
          </a:xfrm>
          <a:prstGeom prst="rect">
            <a:avLst/>
          </a:prstGeom>
          <a:noFill/>
        </p:spPr>
        <p:txBody>
          <a:bodyPr wrap="square" lIns="45720" rIns="45720" tIns="27432" bIns="27432" anchor="t">
            <a:spAutoFit/>
          </a:bodyPr>
          <a:lstStyle/>
          <a:p>
            <a:pPr algn="ctr"/>
            <a:r>
              <a:rPr sz="1250" b="0" i="0">
                <a:solidFill>
                  <a:srgbClr val="1F2937"/>
                </a:solidFill>
                <a:latin typeface="Calibri"/>
              </a:rPr>
              <a:t>11 features</a:t>
            </a:r>
          </a:p>
          <a:p>
            <a:pPr algn="ctr"/>
            <a:r>
              <a:rPr sz="1250" b="0" i="0">
                <a:solidFill>
                  <a:srgbClr val="1F2937"/>
                </a:solidFill>
                <a:latin typeface="Calibri"/>
              </a:rPr>
              <a:t>exact gradients</a:t>
            </a:r>
          </a:p>
        </p:txBody>
      </p:sp>
      <p:sp>
        <p:nvSpPr>
          <p:cNvPr id="20" name="TextBox 19"/>
          <p:cNvSpPr txBox="1"/>
          <p:nvPr/>
        </p:nvSpPr>
        <p:spPr>
          <a:xfrm>
            <a:off x="9491472" y="2103120"/>
            <a:ext cx="274320" cy="457200"/>
          </a:xfrm>
          <a:prstGeom prst="rect">
            <a:avLst/>
          </a:prstGeom>
          <a:noFill/>
        </p:spPr>
        <p:txBody>
          <a:bodyPr wrap="square" lIns="45720" rIns="45720" tIns="27432" bIns="27432" anchor="t">
            <a:spAutoFit/>
          </a:bodyPr>
          <a:lstStyle/>
          <a:p>
            <a:pPr algn="ctr"/>
            <a:r>
              <a:rPr sz="2200" b="1" i="0">
                <a:solidFill>
                  <a:srgbClr val="0F766E"/>
                </a:solidFill>
                <a:latin typeface="Calibri"/>
              </a:rPr>
              <a:t>→</a:t>
            </a:r>
          </a:p>
        </p:txBody>
      </p:sp>
      <p:sp>
        <p:nvSpPr>
          <p:cNvPr id="21" name="Rounded Rectangle 20"/>
          <p:cNvSpPr/>
          <p:nvPr/>
        </p:nvSpPr>
        <p:spPr>
          <a:xfrm>
            <a:off x="9692640" y="1554480"/>
            <a:ext cx="2103120" cy="16459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0" y="1664208"/>
            <a:ext cx="1920240" cy="457200"/>
          </a:xfrm>
          <a:prstGeom prst="rect">
            <a:avLst/>
          </a:prstGeom>
          <a:noFill/>
        </p:spPr>
        <p:txBody>
          <a:bodyPr wrap="square" lIns="45720" rIns="45720" tIns="27432" bIns="27432" anchor="t">
            <a:spAutoFit/>
          </a:bodyPr>
          <a:lstStyle/>
          <a:p>
            <a:pPr algn="ctr"/>
            <a:r>
              <a:rPr sz="1500" b="1" i="0">
                <a:solidFill>
                  <a:srgbClr val="0B1F3A"/>
                </a:solidFill>
                <a:latin typeface="Cambria"/>
              </a:rPr>
              <a:t>Routes + demo</a:t>
            </a:r>
          </a:p>
        </p:txBody>
      </p:sp>
      <p:sp>
        <p:nvSpPr>
          <p:cNvPr id="23" name="TextBox 22"/>
          <p:cNvSpPr txBox="1"/>
          <p:nvPr/>
        </p:nvSpPr>
        <p:spPr>
          <a:xfrm>
            <a:off x="9784080" y="2240280"/>
            <a:ext cx="1920240" cy="868680"/>
          </a:xfrm>
          <a:prstGeom prst="rect">
            <a:avLst/>
          </a:prstGeom>
          <a:noFill/>
        </p:spPr>
        <p:txBody>
          <a:bodyPr wrap="square" lIns="45720" rIns="45720" tIns="27432" bIns="27432" anchor="t">
            <a:spAutoFit/>
          </a:bodyPr>
          <a:lstStyle/>
          <a:p>
            <a:pPr algn="ctr"/>
            <a:r>
              <a:rPr sz="1250" b="0" i="0">
                <a:solidFill>
                  <a:srgbClr val="1F2937"/>
                </a:solidFill>
                <a:latin typeface="Calibri"/>
              </a:rPr>
              <a:t>evaluation, API,</a:t>
            </a:r>
          </a:p>
          <a:p>
            <a:pPr algn="ctr"/>
            <a:r>
              <a:rPr sz="1250" b="0" i="0">
                <a:solidFill>
                  <a:srgbClr val="1F2937"/>
                </a:solidFill>
                <a:latin typeface="Calibri"/>
              </a:rPr>
              <a:t>explainable dashboard</a:t>
            </a:r>
          </a:p>
        </p:txBody>
      </p:sp>
      <p:sp>
        <p:nvSpPr>
          <p:cNvPr id="24" name="Rounded Rectangle 23"/>
          <p:cNvSpPr/>
          <p:nvPr/>
        </p:nvSpPr>
        <p:spPr>
          <a:xfrm>
            <a:off x="548640" y="3566160"/>
            <a:ext cx="2651760" cy="14173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675887"/>
            <a:ext cx="2651760" cy="640080"/>
          </a:xfrm>
          <a:prstGeom prst="rect">
            <a:avLst/>
          </a:prstGeom>
          <a:noFill/>
        </p:spPr>
        <p:txBody>
          <a:bodyPr wrap="square" lIns="45720" rIns="45720" tIns="27432" bIns="27432" anchor="ctr">
            <a:spAutoFit/>
          </a:bodyPr>
          <a:lstStyle/>
          <a:p>
            <a:pPr algn="ctr"/>
            <a:r>
              <a:rPr sz="3400" b="1" i="0">
                <a:solidFill>
                  <a:srgbClr val="0B1F3A"/>
                </a:solidFill>
                <a:latin typeface="Cambria"/>
              </a:rPr>
              <a:t>6,784</a:t>
            </a:r>
          </a:p>
        </p:txBody>
      </p:sp>
      <p:sp>
        <p:nvSpPr>
          <p:cNvPr id="26" name="TextBox 25"/>
          <p:cNvSpPr txBox="1"/>
          <p:nvPr/>
        </p:nvSpPr>
        <p:spPr>
          <a:xfrm>
            <a:off x="548640" y="4315968"/>
            <a:ext cx="2651760" cy="320040"/>
          </a:xfrm>
          <a:prstGeom prst="rect">
            <a:avLst/>
          </a:prstGeom>
          <a:noFill/>
        </p:spPr>
        <p:txBody>
          <a:bodyPr wrap="square" lIns="45720" rIns="45720" tIns="27432" bIns="27432" anchor="t">
            <a:spAutoFit/>
          </a:bodyPr>
          <a:lstStyle/>
          <a:p>
            <a:pPr algn="ctr"/>
            <a:r>
              <a:rPr sz="1400" b="1" i="0">
                <a:solidFill>
                  <a:srgbClr val="1F2937"/>
                </a:solidFill>
                <a:latin typeface="Calibri"/>
              </a:rPr>
              <a:t>directed edges</a:t>
            </a:r>
          </a:p>
        </p:txBody>
      </p:sp>
      <p:sp>
        <p:nvSpPr>
          <p:cNvPr id="27" name="TextBox 26"/>
          <p:cNvSpPr txBox="1"/>
          <p:nvPr/>
        </p:nvSpPr>
        <p:spPr>
          <a:xfrm>
            <a:off x="548640" y="4608576"/>
            <a:ext cx="2651760" cy="274320"/>
          </a:xfrm>
          <a:prstGeom prst="rect">
            <a:avLst/>
          </a:prstGeom>
          <a:noFill/>
        </p:spPr>
        <p:txBody>
          <a:bodyPr wrap="square" lIns="45720" rIns="45720" tIns="27432" bIns="27432" anchor="t">
            <a:spAutoFit/>
          </a:bodyPr>
          <a:lstStyle/>
          <a:p>
            <a:pPr algn="ctr"/>
            <a:r>
              <a:rPr sz="1100" b="0" i="0">
                <a:solidFill>
                  <a:srgbClr val="64748B"/>
                </a:solidFill>
                <a:latin typeface="Calibri"/>
              </a:rPr>
              <a:t>3,367 nodes, central Porto</a:t>
            </a:r>
          </a:p>
        </p:txBody>
      </p:sp>
      <p:sp>
        <p:nvSpPr>
          <p:cNvPr id="28" name="Rounded Rectangle 27"/>
          <p:cNvSpPr/>
          <p:nvPr/>
        </p:nvSpPr>
        <p:spPr>
          <a:xfrm>
            <a:off x="3383280" y="3566160"/>
            <a:ext cx="2651760" cy="14173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83280" y="3675887"/>
            <a:ext cx="2651760" cy="640080"/>
          </a:xfrm>
          <a:prstGeom prst="rect">
            <a:avLst/>
          </a:prstGeom>
          <a:noFill/>
        </p:spPr>
        <p:txBody>
          <a:bodyPr wrap="square" lIns="45720" rIns="45720" tIns="27432" bIns="27432" anchor="ctr">
            <a:spAutoFit/>
          </a:bodyPr>
          <a:lstStyle/>
          <a:p>
            <a:pPr algn="ctr"/>
            <a:r>
              <a:rPr sz="3400" b="1" i="0">
                <a:solidFill>
                  <a:srgbClr val="0F766E"/>
                </a:solidFill>
                <a:latin typeface="Cambria"/>
              </a:rPr>
              <a:t>3,000</a:t>
            </a:r>
          </a:p>
        </p:txBody>
      </p:sp>
      <p:sp>
        <p:nvSpPr>
          <p:cNvPr id="30" name="TextBox 29"/>
          <p:cNvSpPr txBox="1"/>
          <p:nvPr/>
        </p:nvSpPr>
        <p:spPr>
          <a:xfrm>
            <a:off x="3383280" y="4315968"/>
            <a:ext cx="2651760" cy="320040"/>
          </a:xfrm>
          <a:prstGeom prst="rect">
            <a:avLst/>
          </a:prstGeom>
          <a:noFill/>
        </p:spPr>
        <p:txBody>
          <a:bodyPr wrap="square" lIns="45720" rIns="45720" tIns="27432" bIns="27432" anchor="t">
            <a:spAutoFit/>
          </a:bodyPr>
          <a:lstStyle/>
          <a:p>
            <a:pPr algn="ctr"/>
            <a:r>
              <a:rPr sz="1400" b="1" i="0">
                <a:solidFill>
                  <a:srgbClr val="1F2937"/>
                </a:solidFill>
                <a:latin typeface="Calibri"/>
              </a:rPr>
              <a:t>matched trips</a:t>
            </a:r>
          </a:p>
        </p:txBody>
      </p:sp>
      <p:sp>
        <p:nvSpPr>
          <p:cNvPr id="31" name="TextBox 30"/>
          <p:cNvSpPr txBox="1"/>
          <p:nvPr/>
        </p:nvSpPr>
        <p:spPr>
          <a:xfrm>
            <a:off x="3383280" y="4608576"/>
            <a:ext cx="2651760" cy="274320"/>
          </a:xfrm>
          <a:prstGeom prst="rect">
            <a:avLst/>
          </a:prstGeom>
          <a:noFill/>
        </p:spPr>
        <p:txBody>
          <a:bodyPr wrap="square" lIns="45720" rIns="45720" tIns="27432" bIns="27432" anchor="t">
            <a:spAutoFit/>
          </a:bodyPr>
          <a:lstStyle/>
          <a:p>
            <a:pPr algn="ctr"/>
            <a:r>
              <a:rPr sz="1100" b="0" i="0">
                <a:solidFill>
                  <a:srgbClr val="64748B"/>
                </a:solidFill>
                <a:latin typeface="Calibri"/>
              </a:rPr>
              <a:t>of 7,528 attempted</a:t>
            </a:r>
          </a:p>
        </p:txBody>
      </p:sp>
      <p:sp>
        <p:nvSpPr>
          <p:cNvPr id="32" name="Rounded Rectangle 31"/>
          <p:cNvSpPr/>
          <p:nvPr/>
        </p:nvSpPr>
        <p:spPr>
          <a:xfrm>
            <a:off x="6217920" y="3566160"/>
            <a:ext cx="2651760" cy="14173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3675887"/>
            <a:ext cx="2651760" cy="640080"/>
          </a:xfrm>
          <a:prstGeom prst="rect">
            <a:avLst/>
          </a:prstGeom>
          <a:noFill/>
        </p:spPr>
        <p:txBody>
          <a:bodyPr wrap="square" lIns="45720" rIns="45720" tIns="27432" bIns="27432" anchor="ctr">
            <a:spAutoFit/>
          </a:bodyPr>
          <a:lstStyle/>
          <a:p>
            <a:pPr algn="ctr"/>
            <a:r>
              <a:rPr sz="2400" b="1" i="0">
                <a:solidFill>
                  <a:srgbClr val="2563EB"/>
                </a:solidFill>
                <a:latin typeface="Cambria"/>
              </a:rPr>
              <a:t>2,040 / 360 / 600</a:t>
            </a:r>
          </a:p>
        </p:txBody>
      </p:sp>
      <p:sp>
        <p:nvSpPr>
          <p:cNvPr id="34" name="TextBox 33"/>
          <p:cNvSpPr txBox="1"/>
          <p:nvPr/>
        </p:nvSpPr>
        <p:spPr>
          <a:xfrm>
            <a:off x="6217920" y="4315968"/>
            <a:ext cx="2651760" cy="320040"/>
          </a:xfrm>
          <a:prstGeom prst="rect">
            <a:avLst/>
          </a:prstGeom>
          <a:noFill/>
        </p:spPr>
        <p:txBody>
          <a:bodyPr wrap="square" lIns="45720" rIns="45720" tIns="27432" bIns="27432" anchor="t">
            <a:spAutoFit/>
          </a:bodyPr>
          <a:lstStyle/>
          <a:p>
            <a:pPr algn="ctr"/>
            <a:r>
              <a:rPr sz="1400" b="1" i="0">
                <a:solidFill>
                  <a:srgbClr val="1F2937"/>
                </a:solidFill>
                <a:latin typeface="Calibri"/>
              </a:rPr>
              <a:t>fit / val / test per fold</a:t>
            </a:r>
          </a:p>
        </p:txBody>
      </p:sp>
      <p:sp>
        <p:nvSpPr>
          <p:cNvPr id="35" name="TextBox 34"/>
          <p:cNvSpPr txBox="1"/>
          <p:nvPr/>
        </p:nvSpPr>
        <p:spPr>
          <a:xfrm>
            <a:off x="6217920" y="4608576"/>
            <a:ext cx="2651760" cy="274320"/>
          </a:xfrm>
          <a:prstGeom prst="rect">
            <a:avLst/>
          </a:prstGeom>
          <a:noFill/>
        </p:spPr>
        <p:txBody>
          <a:bodyPr wrap="square" lIns="45720" rIns="45720" tIns="27432" bIns="27432" anchor="t">
            <a:spAutoFit/>
          </a:bodyPr>
          <a:lstStyle/>
          <a:p>
            <a:pPr algn="ctr"/>
            <a:r>
              <a:rPr sz="1100" b="0" i="0">
                <a:solidFill>
                  <a:srgbClr val="64748B"/>
                </a:solidFill>
                <a:latin typeface="Calibri"/>
              </a:rPr>
              <a:t>5-fold cross-validation</a:t>
            </a:r>
          </a:p>
        </p:txBody>
      </p:sp>
      <p:sp>
        <p:nvSpPr>
          <p:cNvPr id="36" name="Rounded Rectangle 35"/>
          <p:cNvSpPr/>
          <p:nvPr/>
        </p:nvSpPr>
        <p:spPr>
          <a:xfrm>
            <a:off x="9052560" y="3566160"/>
            <a:ext cx="2606040" cy="14173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52560" y="3675887"/>
            <a:ext cx="2606040" cy="640080"/>
          </a:xfrm>
          <a:prstGeom prst="rect">
            <a:avLst/>
          </a:prstGeom>
          <a:noFill/>
        </p:spPr>
        <p:txBody>
          <a:bodyPr wrap="square" lIns="45720" rIns="45720" tIns="27432" bIns="27432" anchor="ctr">
            <a:spAutoFit/>
          </a:bodyPr>
          <a:lstStyle/>
          <a:p>
            <a:pPr algn="ctr"/>
            <a:r>
              <a:rPr sz="3400" b="1" i="0">
                <a:solidFill>
                  <a:srgbClr val="F59E0B"/>
                </a:solidFill>
                <a:latin typeface="Cambria"/>
              </a:rPr>
              <a:t>600</a:t>
            </a:r>
          </a:p>
        </p:txBody>
      </p:sp>
      <p:sp>
        <p:nvSpPr>
          <p:cNvPr id="38" name="TextBox 37"/>
          <p:cNvSpPr txBox="1"/>
          <p:nvPr/>
        </p:nvSpPr>
        <p:spPr>
          <a:xfrm>
            <a:off x="9052560" y="4315968"/>
            <a:ext cx="2606040" cy="320040"/>
          </a:xfrm>
          <a:prstGeom prst="rect">
            <a:avLst/>
          </a:prstGeom>
          <a:noFill/>
        </p:spPr>
        <p:txBody>
          <a:bodyPr wrap="square" lIns="45720" rIns="45720" tIns="27432" bIns="27432" anchor="t">
            <a:spAutoFit/>
          </a:bodyPr>
          <a:lstStyle/>
          <a:p>
            <a:pPr algn="ctr"/>
            <a:r>
              <a:rPr sz="1400" b="1" i="0">
                <a:solidFill>
                  <a:srgbClr val="1F2937"/>
                </a:solidFill>
                <a:latin typeface="Calibri"/>
              </a:rPr>
              <a:t>held-out test trips</a:t>
            </a:r>
          </a:p>
        </p:txBody>
      </p:sp>
      <p:sp>
        <p:nvSpPr>
          <p:cNvPr id="39" name="TextBox 38"/>
          <p:cNvSpPr txBox="1"/>
          <p:nvPr/>
        </p:nvSpPr>
        <p:spPr>
          <a:xfrm>
            <a:off x="9052560" y="4608576"/>
            <a:ext cx="2606040" cy="274320"/>
          </a:xfrm>
          <a:prstGeom prst="rect">
            <a:avLst/>
          </a:prstGeom>
          <a:noFill/>
        </p:spPr>
        <p:txBody>
          <a:bodyPr wrap="square" lIns="45720" rIns="45720" tIns="27432" bIns="27432" anchor="t">
            <a:spAutoFit/>
          </a:bodyPr>
          <a:lstStyle/>
          <a:p>
            <a:pPr algn="ctr"/>
            <a:r>
              <a:rPr sz="1100" b="0" i="0">
                <a:solidFill>
                  <a:srgbClr val="64748B"/>
                </a:solidFill>
                <a:latin typeface="Calibri"/>
              </a:rPr>
              <a:t>single-split CIs use these</a:t>
            </a:r>
          </a:p>
        </p:txBody>
      </p:sp>
      <p:sp>
        <p:nvSpPr>
          <p:cNvPr id="40" name="TextBox 39"/>
          <p:cNvSpPr txBox="1"/>
          <p:nvPr/>
        </p:nvSpPr>
        <p:spPr>
          <a:xfrm>
            <a:off x="548640" y="5212080"/>
            <a:ext cx="11064240" cy="914400"/>
          </a:xfrm>
          <a:prstGeom prst="rect">
            <a:avLst/>
          </a:prstGeom>
          <a:noFill/>
        </p:spPr>
        <p:txBody>
          <a:bodyPr wrap="square" lIns="45720" rIns="45720" tIns="27432" bIns="27432" anchor="t">
            <a:spAutoFit/>
          </a:bodyPr>
          <a:lstStyle/>
          <a:p>
            <a:pPr algn="l"/>
            <a:r>
              <a:rPr sz="1400" b="0" i="0">
                <a:solidFill>
                  <a:srgbClr val="64748B"/>
                </a:solidFill>
                <a:latin typeface="Calibri"/>
              </a:rPr>
              <a:t>Edge familiarity = log(1 + #trips through the edge) from an independent pool of map-matched trips, disjoint from train, validation and test.</a:t>
            </a:r>
          </a:p>
          <a:p>
            <a:pPr algn="l"/>
            <a:r>
              <a:rPr sz="1400" b="0" i="0">
                <a:solidFill>
                  <a:srgbClr val="64748B"/>
                </a:solidFill>
                <a:latin typeface="Calibri"/>
              </a:rPr>
              <a:t>Map-matching errors are treated as ground truth (a limitation).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EXPERIMENTAL SETUP</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Baselines and metrics</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10</a:t>
            </a:r>
          </a:p>
        </p:txBody>
      </p:sp>
      <p:sp>
        <p:nvSpPr>
          <p:cNvPr id="5" name="Rounded Rectangle 4"/>
          <p:cNvSpPr/>
          <p:nvPr/>
        </p:nvSpPr>
        <p:spPr>
          <a:xfrm>
            <a:off x="548640" y="1463040"/>
            <a:ext cx="5394960" cy="457200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4937760" cy="365760"/>
          </a:xfrm>
          <a:prstGeom prst="rect">
            <a:avLst/>
          </a:prstGeom>
          <a:noFill/>
        </p:spPr>
        <p:txBody>
          <a:bodyPr wrap="square" lIns="45720" rIns="45720" tIns="27432" bIns="27432" anchor="t">
            <a:spAutoFit/>
          </a:bodyPr>
          <a:lstStyle/>
          <a:p>
            <a:pPr algn="l"/>
            <a:r>
              <a:rPr sz="2000" b="1" i="0">
                <a:solidFill>
                  <a:srgbClr val="0B1F3A"/>
                </a:solidFill>
                <a:latin typeface="Cambria"/>
              </a:rPr>
              <a:t>Baselines</a:t>
            </a:r>
          </a:p>
        </p:txBody>
      </p:sp>
      <p:sp>
        <p:nvSpPr>
          <p:cNvPr id="7" name="TextBox 6"/>
          <p:cNvSpPr txBox="1"/>
          <p:nvPr/>
        </p:nvSpPr>
        <p:spPr>
          <a:xfrm>
            <a:off x="777240" y="2057400"/>
            <a:ext cx="4937760" cy="3931920"/>
          </a:xfrm>
          <a:prstGeom prst="rect">
            <a:avLst/>
          </a:prstGeom>
          <a:noFill/>
        </p:spPr>
        <p:txBody>
          <a:bodyPr wrap="square" lIns="45720">
            <a:spAutoFit/>
          </a:bodyPr>
          <a:lstStyle/>
          <a:p>
            <a:pPr>
              <a:spcAft>
                <a:spcPts val="1200"/>
              </a:spcAft>
            </a:pPr>
            <a:r>
              <a:rPr b="1" sz="1800">
                <a:solidFill>
                  <a:srgbClr val="0F766E"/>
                </a:solidFill>
                <a:latin typeface="Calibri"/>
              </a:rPr>
              <a:t>▪ Dijkstra-Shortest</a:t>
            </a:r>
            <a:r>
              <a:rPr sz="1800">
                <a:solidFill>
                  <a:srgbClr val="1F2937"/>
                </a:solidFill>
                <a:latin typeface="Calibri"/>
              </a:rPr>
              <a:t> minimise length</a:t>
            </a:r>
          </a:p>
          <a:p>
            <a:pPr>
              <a:spcAft>
                <a:spcPts val="1200"/>
              </a:spcAft>
            </a:pPr>
            <a:r>
              <a:rPr b="1" sz="1800">
                <a:solidFill>
                  <a:srgbClr val="0F766E"/>
                </a:solidFill>
                <a:latin typeface="Calibri"/>
              </a:rPr>
              <a:t>▪ Dijkstra-Fastest</a:t>
            </a:r>
            <a:r>
              <a:rPr sz="1800">
                <a:solidFill>
                  <a:srgbClr val="1F2937"/>
                </a:solidFill>
                <a:latin typeface="Calibri"/>
              </a:rPr>
              <a:t> minimise free-flow time</a:t>
            </a:r>
          </a:p>
          <a:p>
            <a:pPr>
              <a:spcAft>
                <a:spcPts val="1200"/>
              </a:spcAft>
            </a:pPr>
            <a:r>
              <a:rPr b="1" sz="1800">
                <a:solidFill>
                  <a:srgbClr val="0F766E"/>
                </a:solidFill>
                <a:latin typeface="Calibri"/>
              </a:rPr>
              <a:t>▪ Myopic classifier</a:t>
            </a:r>
            <a:r>
              <a:rPr sz="1800">
                <a:solidFill>
                  <a:srgbClr val="1F2937"/>
                </a:solidFill>
                <a:latin typeface="Calibri"/>
              </a:rPr>
              <a:t> per-junction logistic regression, no destination</a:t>
            </a:r>
          </a:p>
          <a:p>
            <a:pPr>
              <a:spcAft>
                <a:spcPts val="1200"/>
              </a:spcAft>
            </a:pPr>
            <a:r>
              <a:rPr b="1" sz="1800">
                <a:solidFill>
                  <a:srgbClr val="0F766E"/>
                </a:solidFill>
                <a:latin typeface="Calibri"/>
              </a:rPr>
              <a:t>▪ Pop-Shortest</a:t>
            </a:r>
            <a:r>
              <a:rPr sz="1800">
                <a:solidFill>
                  <a:srgbClr val="1F2937"/>
                </a:solidFill>
                <a:latin typeface="Calibri"/>
              </a:rPr>
              <a:t> shortest path discounted by edge popularity</a:t>
            </a:r>
          </a:p>
        </p:txBody>
      </p:sp>
      <p:sp>
        <p:nvSpPr>
          <p:cNvPr id="8" name="Rounded Rectangle 7"/>
          <p:cNvSpPr/>
          <p:nvPr/>
        </p:nvSpPr>
        <p:spPr>
          <a:xfrm>
            <a:off x="6217920" y="1463040"/>
            <a:ext cx="5440680" cy="457200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54480"/>
            <a:ext cx="4937760" cy="365760"/>
          </a:xfrm>
          <a:prstGeom prst="rect">
            <a:avLst/>
          </a:prstGeom>
          <a:noFill/>
        </p:spPr>
        <p:txBody>
          <a:bodyPr wrap="square" lIns="45720" rIns="45720" tIns="27432" bIns="27432" anchor="t">
            <a:spAutoFit/>
          </a:bodyPr>
          <a:lstStyle/>
          <a:p>
            <a:pPr algn="l"/>
            <a:r>
              <a:rPr sz="2000" b="1" i="0">
                <a:solidFill>
                  <a:srgbClr val="0B1F3A"/>
                </a:solidFill>
                <a:latin typeface="Cambria"/>
              </a:rPr>
              <a:t>Metrics</a:t>
            </a:r>
          </a:p>
        </p:txBody>
      </p:sp>
      <p:sp>
        <p:nvSpPr>
          <p:cNvPr id="10" name="TextBox 9"/>
          <p:cNvSpPr txBox="1"/>
          <p:nvPr/>
        </p:nvSpPr>
        <p:spPr>
          <a:xfrm>
            <a:off x="6446520" y="2057400"/>
            <a:ext cx="5029200" cy="3931920"/>
          </a:xfrm>
          <a:prstGeom prst="rect">
            <a:avLst/>
          </a:prstGeom>
          <a:noFill/>
        </p:spPr>
        <p:txBody>
          <a:bodyPr wrap="square" lIns="45720">
            <a:spAutoFit/>
          </a:bodyPr>
          <a:lstStyle/>
          <a:p>
            <a:pPr>
              <a:spcAft>
                <a:spcPts val="1200"/>
              </a:spcAft>
            </a:pPr>
            <a:r>
              <a:rPr b="1" sz="1700">
                <a:solidFill>
                  <a:srgbClr val="0F766E"/>
                </a:solidFill>
                <a:latin typeface="Calibri"/>
              </a:rPr>
              <a:t>▪ Edge F1 / Jaccard</a:t>
            </a:r>
            <a:r>
              <a:rPr sz="1700">
                <a:solidFill>
                  <a:srgbClr val="1F2937"/>
                </a:solidFill>
                <a:latin typeface="Calibri"/>
              </a:rPr>
              <a:t> overlap of predicted and driven edges</a:t>
            </a:r>
          </a:p>
          <a:p>
            <a:pPr>
              <a:spcAft>
                <a:spcPts val="1200"/>
              </a:spcAft>
            </a:pPr>
            <a:r>
              <a:rPr b="1" sz="1700">
                <a:solidFill>
                  <a:srgbClr val="0F766E"/>
                </a:solidFill>
                <a:latin typeface="Calibri"/>
              </a:rPr>
              <a:t>▪ Path length ratio</a:t>
            </a:r>
            <a:r>
              <a:rPr sz="1700">
                <a:solidFill>
                  <a:srgbClr val="1F2937"/>
                </a:solidFill>
                <a:latin typeface="Calibri"/>
              </a:rPr>
              <a:t> detects loops or shortcuts</a:t>
            </a:r>
          </a:p>
          <a:p>
            <a:pPr>
              <a:spcAft>
                <a:spcPts val="1200"/>
              </a:spcAft>
            </a:pPr>
            <a:r>
              <a:rPr b="1" sz="1700">
                <a:solidFill>
                  <a:srgbClr val="0F766E"/>
                </a:solidFill>
                <a:latin typeface="Calibri"/>
              </a:rPr>
              <a:t>▪ Top-1 / Top-3 accuracy</a:t>
            </a:r>
            <a:r>
              <a:rPr sz="1700">
                <a:solidFill>
                  <a:srgbClr val="1F2937"/>
                </a:solidFill>
                <a:latin typeface="Calibri"/>
              </a:rPr>
              <a:t> next-road prediction at each junction</a:t>
            </a:r>
          </a:p>
          <a:p>
            <a:pPr>
              <a:spcAft>
                <a:spcPts val="1200"/>
              </a:spcAft>
            </a:pPr>
            <a:r>
              <a:rPr b="1" sz="1700">
                <a:solidFill>
                  <a:srgbClr val="0F766E"/>
                </a:solidFill>
                <a:latin typeface="Calibri"/>
              </a:rPr>
              <a:t>▪ Log-likelihood / trip NLL</a:t>
            </a:r>
            <a:r>
              <a:rPr sz="1700">
                <a:solidFill>
                  <a:srgbClr val="1F2937"/>
                </a:solidFill>
                <a:latin typeface="Calibri"/>
              </a:rPr>
              <a:t> how well the model explains held-out trips</a:t>
            </a:r>
          </a:p>
          <a:p>
            <a:pPr>
              <a:spcAft>
                <a:spcPts val="1200"/>
              </a:spcAft>
            </a:pPr>
            <a:r>
              <a:rPr b="1" sz="1700">
                <a:solidFill>
                  <a:srgbClr val="0F766E"/>
                </a:solidFill>
                <a:latin typeface="Calibri"/>
              </a:rPr>
              <a:t>▪ Evidence</a:t>
            </a:r>
            <a:r>
              <a:rPr sz="1700">
                <a:solidFill>
                  <a:srgbClr val="1F2937"/>
                </a:solidFill>
                <a:latin typeface="Calibri"/>
              </a:rPr>
              <a:t> 95% bootstrap CIs, paired Wilcoxon tests, 5-fold CV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RESULTS</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Results: learned routes beat the shortest path</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11</a:t>
            </a:r>
          </a:p>
        </p:txBody>
      </p:sp>
      <p:graphicFrame>
        <p:nvGraphicFramePr>
          <p:cNvPr id="5" name="Chart 4"/>
          <p:cNvGraphicFramePr>
            <a:graphicFrameLocks noGrp="1"/>
          </p:cNvGraphicFramePr>
          <p:nvPr/>
        </p:nvGraphicFramePr>
        <p:xfrm>
          <a:off x="548640" y="1371600"/>
          <a:ext cx="6949440" cy="4937760"/>
        </p:xfrm>
        <a:graphic>
          <a:graphicData uri="http://schemas.openxmlformats.org/drawingml/2006/chart">
            <c:chart xmlns:c="http://schemas.openxmlformats.org/drawingml/2006/chart" r:id="rId3"/>
          </a:graphicData>
        </a:graphic>
      </p:graphicFrame>
      <p:sp>
        <p:nvSpPr>
          <p:cNvPr id="6" name="Rounded Rectangle 5"/>
          <p:cNvSpPr/>
          <p:nvPr/>
        </p:nvSpPr>
        <p:spPr>
          <a:xfrm>
            <a:off x="7772400" y="1463040"/>
            <a:ext cx="3886200" cy="14173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572768"/>
            <a:ext cx="3886200" cy="640080"/>
          </a:xfrm>
          <a:prstGeom prst="rect">
            <a:avLst/>
          </a:prstGeom>
          <a:noFill/>
        </p:spPr>
        <p:txBody>
          <a:bodyPr wrap="square" lIns="45720" rIns="45720" tIns="27432" bIns="27432" anchor="ctr">
            <a:spAutoFit/>
          </a:bodyPr>
          <a:lstStyle/>
          <a:p>
            <a:pPr algn="ctr"/>
            <a:r>
              <a:rPr sz="3400" b="1" i="0">
                <a:solidFill>
                  <a:srgbClr val="0F766E"/>
                </a:solidFill>
                <a:latin typeface="Cambria"/>
              </a:rPr>
              <a:t>0.682</a:t>
            </a:r>
          </a:p>
        </p:txBody>
      </p:sp>
      <p:sp>
        <p:nvSpPr>
          <p:cNvPr id="8" name="TextBox 7"/>
          <p:cNvSpPr txBox="1"/>
          <p:nvPr/>
        </p:nvSpPr>
        <p:spPr>
          <a:xfrm>
            <a:off x="7772400" y="2212848"/>
            <a:ext cx="3886200" cy="320040"/>
          </a:xfrm>
          <a:prstGeom prst="rect">
            <a:avLst/>
          </a:prstGeom>
          <a:noFill/>
        </p:spPr>
        <p:txBody>
          <a:bodyPr wrap="square" lIns="45720" rIns="45720" tIns="27432" bIns="27432" anchor="t">
            <a:spAutoFit/>
          </a:bodyPr>
          <a:lstStyle/>
          <a:p>
            <a:pPr algn="ctr"/>
            <a:r>
              <a:rPr sz="1400" b="1" i="0">
                <a:solidFill>
                  <a:srgbClr val="1F2937"/>
                </a:solidFill>
                <a:latin typeface="Calibri"/>
              </a:rPr>
              <a:t>Edge F1 (IRL-v3)</a:t>
            </a:r>
          </a:p>
        </p:txBody>
      </p:sp>
      <p:sp>
        <p:nvSpPr>
          <p:cNvPr id="9" name="TextBox 8"/>
          <p:cNvSpPr txBox="1"/>
          <p:nvPr/>
        </p:nvSpPr>
        <p:spPr>
          <a:xfrm>
            <a:off x="7772400" y="2505456"/>
            <a:ext cx="3886200" cy="274320"/>
          </a:xfrm>
          <a:prstGeom prst="rect">
            <a:avLst/>
          </a:prstGeom>
          <a:noFill/>
        </p:spPr>
        <p:txBody>
          <a:bodyPr wrap="square" lIns="45720" rIns="45720" tIns="27432" bIns="27432" anchor="t">
            <a:spAutoFit/>
          </a:bodyPr>
          <a:lstStyle/>
          <a:p>
            <a:pPr algn="ctr"/>
            <a:r>
              <a:rPr sz="1100" b="0" i="0">
                <a:solidFill>
                  <a:srgbClr val="64748B"/>
                </a:solidFill>
                <a:latin typeface="Calibri"/>
              </a:rPr>
              <a:t>95% CI 0.657–0.708</a:t>
            </a:r>
          </a:p>
        </p:txBody>
      </p:sp>
      <p:sp>
        <p:nvSpPr>
          <p:cNvPr id="10" name="Rounded Rectangle 9"/>
          <p:cNvSpPr/>
          <p:nvPr/>
        </p:nvSpPr>
        <p:spPr>
          <a:xfrm>
            <a:off x="7772400" y="3017520"/>
            <a:ext cx="1874519" cy="14173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3127248"/>
            <a:ext cx="1874519" cy="640080"/>
          </a:xfrm>
          <a:prstGeom prst="rect">
            <a:avLst/>
          </a:prstGeom>
          <a:noFill/>
        </p:spPr>
        <p:txBody>
          <a:bodyPr wrap="square" lIns="45720" rIns="45720" tIns="27432" bIns="27432" anchor="ctr">
            <a:spAutoFit/>
          </a:bodyPr>
          <a:lstStyle/>
          <a:p>
            <a:pPr algn="ctr"/>
            <a:r>
              <a:rPr sz="3400" b="1" i="0">
                <a:solidFill>
                  <a:srgbClr val="15803D"/>
                </a:solidFill>
                <a:latin typeface="Cambria"/>
              </a:rPr>
              <a:t>+0.046</a:t>
            </a:r>
          </a:p>
        </p:txBody>
      </p:sp>
      <p:sp>
        <p:nvSpPr>
          <p:cNvPr id="12" name="TextBox 11"/>
          <p:cNvSpPr txBox="1"/>
          <p:nvPr/>
        </p:nvSpPr>
        <p:spPr>
          <a:xfrm>
            <a:off x="7772400" y="3767328"/>
            <a:ext cx="1874519" cy="320040"/>
          </a:xfrm>
          <a:prstGeom prst="rect">
            <a:avLst/>
          </a:prstGeom>
          <a:noFill/>
        </p:spPr>
        <p:txBody>
          <a:bodyPr wrap="square" lIns="45720" rIns="45720" tIns="27432" bIns="27432" anchor="t">
            <a:spAutoFit/>
          </a:bodyPr>
          <a:lstStyle/>
          <a:p>
            <a:pPr algn="ctr"/>
            <a:r>
              <a:rPr sz="1400" b="1" i="0">
                <a:solidFill>
                  <a:srgbClr val="1F2937"/>
                </a:solidFill>
                <a:latin typeface="Calibri"/>
              </a:rPr>
              <a:t>vs Shortest</a:t>
            </a:r>
          </a:p>
        </p:txBody>
      </p:sp>
      <p:sp>
        <p:nvSpPr>
          <p:cNvPr id="13" name="TextBox 12"/>
          <p:cNvSpPr txBox="1"/>
          <p:nvPr/>
        </p:nvSpPr>
        <p:spPr>
          <a:xfrm>
            <a:off x="7772400" y="4059935"/>
            <a:ext cx="1874519" cy="274320"/>
          </a:xfrm>
          <a:prstGeom prst="rect">
            <a:avLst/>
          </a:prstGeom>
          <a:noFill/>
        </p:spPr>
        <p:txBody>
          <a:bodyPr wrap="square" lIns="45720" rIns="45720" tIns="27432" bIns="27432" anchor="t">
            <a:spAutoFit/>
          </a:bodyPr>
          <a:lstStyle/>
          <a:p>
            <a:pPr algn="ctr"/>
            <a:r>
              <a:rPr sz="1100" b="0" i="0">
                <a:solidFill>
                  <a:srgbClr val="64748B"/>
                </a:solidFill>
                <a:latin typeface="Calibri"/>
              </a:rPr>
              <a:t>paired p = 2.7e-5</a:t>
            </a:r>
          </a:p>
        </p:txBody>
      </p:sp>
      <p:sp>
        <p:nvSpPr>
          <p:cNvPr id="14" name="Rounded Rectangle 13"/>
          <p:cNvSpPr/>
          <p:nvPr/>
        </p:nvSpPr>
        <p:spPr>
          <a:xfrm>
            <a:off x="9784080" y="3017520"/>
            <a:ext cx="1874519" cy="14173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0" y="3127248"/>
            <a:ext cx="1874519" cy="640080"/>
          </a:xfrm>
          <a:prstGeom prst="rect">
            <a:avLst/>
          </a:prstGeom>
          <a:noFill/>
        </p:spPr>
        <p:txBody>
          <a:bodyPr wrap="square" lIns="45720" rIns="45720" tIns="27432" bIns="27432" anchor="ctr">
            <a:spAutoFit/>
          </a:bodyPr>
          <a:lstStyle/>
          <a:p>
            <a:pPr algn="ctr"/>
            <a:r>
              <a:rPr sz="3400" b="1" i="0">
                <a:solidFill>
                  <a:srgbClr val="2563EB"/>
                </a:solidFill>
                <a:latin typeface="Cambria"/>
              </a:rPr>
              <a:t>93.7%</a:t>
            </a:r>
          </a:p>
        </p:txBody>
      </p:sp>
      <p:sp>
        <p:nvSpPr>
          <p:cNvPr id="16" name="TextBox 15"/>
          <p:cNvSpPr txBox="1"/>
          <p:nvPr/>
        </p:nvSpPr>
        <p:spPr>
          <a:xfrm>
            <a:off x="9784080" y="3767328"/>
            <a:ext cx="1874519" cy="320040"/>
          </a:xfrm>
          <a:prstGeom prst="rect">
            <a:avLst/>
          </a:prstGeom>
          <a:noFill/>
        </p:spPr>
        <p:txBody>
          <a:bodyPr wrap="square" lIns="45720" rIns="45720" tIns="27432" bIns="27432" anchor="t">
            <a:spAutoFit/>
          </a:bodyPr>
          <a:lstStyle/>
          <a:p>
            <a:pPr algn="ctr"/>
            <a:r>
              <a:rPr sz="1400" b="1" i="0">
                <a:solidFill>
                  <a:srgbClr val="1F2937"/>
                </a:solidFill>
                <a:latin typeface="Calibri"/>
              </a:rPr>
              <a:t>Top-1 acc.</a:t>
            </a:r>
          </a:p>
        </p:txBody>
      </p:sp>
      <p:sp>
        <p:nvSpPr>
          <p:cNvPr id="17" name="TextBox 16"/>
          <p:cNvSpPr txBox="1"/>
          <p:nvPr/>
        </p:nvSpPr>
        <p:spPr>
          <a:xfrm>
            <a:off x="9784080" y="4059935"/>
            <a:ext cx="1874519" cy="274320"/>
          </a:xfrm>
          <a:prstGeom prst="rect">
            <a:avLst/>
          </a:prstGeom>
          <a:noFill/>
        </p:spPr>
        <p:txBody>
          <a:bodyPr wrap="square" lIns="45720" rIns="45720" tIns="27432" bIns="27432" anchor="t">
            <a:spAutoFit/>
          </a:bodyPr>
          <a:lstStyle/>
          <a:p>
            <a:pPr algn="ctr"/>
            <a:r>
              <a:rPr sz="1100" b="0" i="0">
                <a:solidFill>
                  <a:srgbClr val="64748B"/>
                </a:solidFill>
                <a:latin typeface="Calibri"/>
              </a:rPr>
              <a:t>Top-3: 99.9%</a:t>
            </a:r>
          </a:p>
        </p:txBody>
      </p:sp>
      <p:sp>
        <p:nvSpPr>
          <p:cNvPr id="18" name="TextBox 17"/>
          <p:cNvSpPr txBox="1"/>
          <p:nvPr/>
        </p:nvSpPr>
        <p:spPr>
          <a:xfrm>
            <a:off x="7772400" y="4572000"/>
            <a:ext cx="3886200" cy="1645920"/>
          </a:xfrm>
          <a:prstGeom prst="rect">
            <a:avLst/>
          </a:prstGeom>
          <a:noFill/>
        </p:spPr>
        <p:txBody>
          <a:bodyPr wrap="square" lIns="45720" rIns="45720" tIns="27432" bIns="27432" anchor="t">
            <a:spAutoFit/>
          </a:bodyPr>
          <a:lstStyle/>
          <a:p>
            <a:pPr algn="l"/>
            <a:r>
              <a:rPr sz="1400" b="0" i="0">
                <a:solidFill>
                  <a:srgbClr val="1F2937"/>
                </a:solidFill>
                <a:latin typeface="Calibri"/>
              </a:rPr>
              <a:t>Trip NLL 5.46 (v1: 6.12)</a:t>
            </a:r>
          </a:p>
          <a:p>
            <a:pPr algn="l"/>
            <a:r>
              <a:rPr sz="1400" b="0" i="0">
                <a:solidFill>
                  <a:srgbClr val="1F2937"/>
                </a:solidFill>
                <a:latin typeface="Calibri"/>
              </a:rPr>
              <a:t>Log-likelihood −0.155 per step</a:t>
            </a:r>
          </a:p>
          <a:p>
            <a:pPr algn="l"/>
            <a:r>
              <a:rPr sz="1400" b="0" i="0">
                <a:solidFill>
                  <a:srgbClr val="1F2937"/>
                </a:solidFill>
                <a:latin typeface="Calibri"/>
              </a:rPr>
              <a:t>Path length ratio 0.91 vs 0.88 for shortest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RESULTS</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Cross-validation: the gain holds, but a baseline ties</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12</a:t>
            </a:r>
          </a:p>
        </p:txBody>
      </p:sp>
      <p:graphicFrame>
        <p:nvGraphicFramePr>
          <p:cNvPr id="5" name="Chart 4"/>
          <p:cNvGraphicFramePr>
            <a:graphicFrameLocks noGrp="1"/>
          </p:cNvGraphicFramePr>
          <p:nvPr/>
        </p:nvGraphicFramePr>
        <p:xfrm>
          <a:off x="548640" y="1371600"/>
          <a:ext cx="6309360" cy="420624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7132320" y="1463040"/>
          <a:ext cx="4526280" cy="2743200"/>
        </p:xfrm>
        <a:graphic>
          <a:graphicData uri="http://schemas.openxmlformats.org/drawingml/2006/table">
            <a:tbl>
              <a:tblPr firstRow="0" bandRow="0">
                <a:tableStyleId>{5C22544A-7EE6-4342-B048-85BDC9FD1C3A}</a:tableStyleId>
              </a:tblPr>
              <a:tblGrid>
                <a:gridCol w="1828800"/>
                <a:gridCol w="1371600"/>
                <a:gridCol w="1325880"/>
              </a:tblGrid>
              <a:tr h="457200">
                <a:tc>
                  <a:txBody>
                    <a:bodyPr wrap="square"/>
                    <a:lstStyle/>
                    <a:p>
                      <a:r>
                        <a:rPr sz="1250" b="1">
                          <a:solidFill>
                            <a:srgbClr val="FFFFFF"/>
                          </a:solidFill>
                          <a:latin typeface="Calibri"/>
                        </a:rPr>
                        <a:t>Method</a:t>
                      </a:r>
                    </a:p>
                  </a:txBody>
                  <a:tcPr marL="73152" marR="73152" marT="27432" marB="27432" anchor="ctr">
                    <a:solidFill>
                      <a:srgbClr val="0B1F3A"/>
                    </a:solidFill>
                  </a:tcPr>
                </a:tc>
                <a:tc>
                  <a:txBody>
                    <a:bodyPr wrap="square"/>
                    <a:lstStyle/>
                    <a:p>
                      <a:r>
                        <a:rPr sz="1250" b="1">
                          <a:solidFill>
                            <a:srgbClr val="FFFFFF"/>
                          </a:solidFill>
                          <a:latin typeface="Calibri"/>
                        </a:rPr>
                        <a:t>Edge F1</a:t>
                      </a:r>
                    </a:p>
                  </a:txBody>
                  <a:tcPr marL="73152" marR="73152" marT="27432" marB="27432" anchor="ctr">
                    <a:solidFill>
                      <a:srgbClr val="0B1F3A"/>
                    </a:solidFill>
                  </a:tcPr>
                </a:tc>
                <a:tc>
                  <a:txBody>
                    <a:bodyPr wrap="square"/>
                    <a:lstStyle/>
                    <a:p>
                      <a:r>
                        <a:rPr sz="1250" b="1">
                          <a:solidFill>
                            <a:srgbClr val="FFFFFF"/>
                          </a:solidFill>
                          <a:latin typeface="Calibri"/>
                        </a:rPr>
                        <a:t>Jaccard</a:t>
                      </a:r>
                    </a:p>
                  </a:txBody>
                  <a:tcPr marL="73152" marR="73152" marT="27432" marB="27432" anchor="ctr">
                    <a:solidFill>
                      <a:srgbClr val="0B1F3A"/>
                    </a:solidFill>
                  </a:tcPr>
                </a:tc>
              </a:tr>
              <a:tr h="457200">
                <a:tc>
                  <a:txBody>
                    <a:bodyPr wrap="square"/>
                    <a:lstStyle/>
                    <a:p>
                      <a:r>
                        <a:rPr sz="1250" b="0">
                          <a:solidFill>
                            <a:srgbClr val="1F2937"/>
                          </a:solidFill>
                          <a:latin typeface="Calibri"/>
                        </a:rPr>
                        <a:t>Dijkstra-Fastest</a:t>
                      </a:r>
                    </a:p>
                  </a:txBody>
                  <a:tcPr marL="73152" marR="73152" marT="27432" marB="27432" anchor="ctr">
                    <a:solidFill>
                      <a:srgbClr val="FFFFFF"/>
                    </a:solidFill>
                  </a:tcPr>
                </a:tc>
                <a:tc>
                  <a:txBody>
                    <a:bodyPr wrap="square"/>
                    <a:lstStyle/>
                    <a:p>
                      <a:r>
                        <a:rPr sz="1250" b="0">
                          <a:solidFill>
                            <a:srgbClr val="1F2937"/>
                          </a:solidFill>
                          <a:latin typeface="Calibri"/>
                        </a:rPr>
                        <a:t>0.478 ± 0.009</a:t>
                      </a:r>
                    </a:p>
                  </a:txBody>
                  <a:tcPr marL="73152" marR="73152" marT="27432" marB="27432" anchor="ctr">
                    <a:solidFill>
                      <a:srgbClr val="FFFFFF"/>
                    </a:solidFill>
                  </a:tcPr>
                </a:tc>
                <a:tc>
                  <a:txBody>
                    <a:bodyPr wrap="square"/>
                    <a:lstStyle/>
                    <a:p>
                      <a:r>
                        <a:rPr sz="1250" b="0">
                          <a:solidFill>
                            <a:srgbClr val="1F2937"/>
                          </a:solidFill>
                          <a:latin typeface="Calibri"/>
                        </a:rPr>
                        <a:t>0.379 ± 0.008</a:t>
                      </a:r>
                    </a:p>
                  </a:txBody>
                  <a:tcPr marL="73152" marR="73152" marT="27432" marB="27432" anchor="ctr">
                    <a:solidFill>
                      <a:srgbClr val="FFFFFF"/>
                    </a:solidFill>
                  </a:tcPr>
                </a:tc>
              </a:tr>
              <a:tr h="457200">
                <a:tc>
                  <a:txBody>
                    <a:bodyPr wrap="square"/>
                    <a:lstStyle/>
                    <a:p>
                      <a:r>
                        <a:rPr sz="1250" b="0">
                          <a:solidFill>
                            <a:srgbClr val="1F2937"/>
                          </a:solidFill>
                          <a:latin typeface="Calibri"/>
                        </a:rPr>
                        <a:t>Dijkstra-Shortest</a:t>
                      </a:r>
                    </a:p>
                  </a:txBody>
                  <a:tcPr marL="73152" marR="73152" marT="27432" marB="27432" anchor="ctr">
                    <a:solidFill>
                      <a:srgbClr val="F1F5F9"/>
                    </a:solidFill>
                  </a:tcPr>
                </a:tc>
                <a:tc>
                  <a:txBody>
                    <a:bodyPr wrap="square"/>
                    <a:lstStyle/>
                    <a:p>
                      <a:r>
                        <a:rPr sz="1250" b="0">
                          <a:solidFill>
                            <a:srgbClr val="1F2937"/>
                          </a:solidFill>
                          <a:latin typeface="Calibri"/>
                        </a:rPr>
                        <a:t>0.630 ± 0.003</a:t>
                      </a:r>
                    </a:p>
                  </a:txBody>
                  <a:tcPr marL="73152" marR="73152" marT="27432" marB="27432" anchor="ctr">
                    <a:solidFill>
                      <a:srgbClr val="F1F5F9"/>
                    </a:solidFill>
                  </a:tcPr>
                </a:tc>
                <a:tc>
                  <a:txBody>
                    <a:bodyPr wrap="square"/>
                    <a:lstStyle/>
                    <a:p>
                      <a:r>
                        <a:rPr sz="1250" b="0">
                          <a:solidFill>
                            <a:srgbClr val="1F2937"/>
                          </a:solidFill>
                          <a:latin typeface="Calibri"/>
                        </a:rPr>
                        <a:t>0.538 ± 0.003</a:t>
                      </a:r>
                    </a:p>
                  </a:txBody>
                  <a:tcPr marL="73152" marR="73152" marT="27432" marB="27432" anchor="ctr">
                    <a:solidFill>
                      <a:srgbClr val="F1F5F9"/>
                    </a:solidFill>
                  </a:tcPr>
                </a:tc>
              </a:tr>
              <a:tr h="457200">
                <a:tc>
                  <a:txBody>
                    <a:bodyPr wrap="square"/>
                    <a:lstStyle/>
                    <a:p>
                      <a:r>
                        <a:rPr sz="1250" b="0">
                          <a:solidFill>
                            <a:srgbClr val="1F2937"/>
                          </a:solidFill>
                          <a:latin typeface="Calibri"/>
                        </a:rPr>
                        <a:t>IRL-v3 (raw)</a:t>
                      </a:r>
                    </a:p>
                  </a:txBody>
                  <a:tcPr marL="73152" marR="73152" marT="27432" marB="27432" anchor="ctr">
                    <a:solidFill>
                      <a:srgbClr val="FFFFFF"/>
                    </a:solidFill>
                  </a:tcPr>
                </a:tc>
                <a:tc>
                  <a:txBody>
                    <a:bodyPr wrap="square"/>
                    <a:lstStyle/>
                    <a:p>
                      <a:r>
                        <a:rPr sz="1250" b="0">
                          <a:solidFill>
                            <a:srgbClr val="1F2937"/>
                          </a:solidFill>
                          <a:latin typeface="Calibri"/>
                        </a:rPr>
                        <a:t>0.655 ± 0.008</a:t>
                      </a:r>
                    </a:p>
                  </a:txBody>
                  <a:tcPr marL="73152" marR="73152" marT="27432" marB="27432" anchor="ctr">
                    <a:solidFill>
                      <a:srgbClr val="FFFFFF"/>
                    </a:solidFill>
                  </a:tcPr>
                </a:tc>
                <a:tc>
                  <a:txBody>
                    <a:bodyPr wrap="square"/>
                    <a:lstStyle/>
                    <a:p>
                      <a:r>
                        <a:rPr sz="1250" b="0">
                          <a:solidFill>
                            <a:srgbClr val="1F2937"/>
                          </a:solidFill>
                          <a:latin typeface="Calibri"/>
                        </a:rPr>
                        <a:t>0.572 ± 0.010</a:t>
                      </a:r>
                    </a:p>
                  </a:txBody>
                  <a:tcPr marL="73152" marR="73152" marT="27432" marB="27432" anchor="ctr">
                    <a:solidFill>
                      <a:srgbClr val="FFFFFF"/>
                    </a:solidFill>
                  </a:tcPr>
                </a:tc>
              </a:tr>
              <a:tr h="457200">
                <a:tc>
                  <a:txBody>
                    <a:bodyPr wrap="square"/>
                    <a:lstStyle/>
                    <a:p>
                      <a:r>
                        <a:rPr sz="1250" b="1">
                          <a:solidFill>
                            <a:srgbClr val="1F2937"/>
                          </a:solidFill>
                          <a:latin typeface="Calibri"/>
                        </a:rPr>
                        <a:t>IRL-v3 (calibrated)</a:t>
                      </a:r>
                    </a:p>
                  </a:txBody>
                  <a:tcPr marL="73152" marR="73152" marT="27432" marB="27432" anchor="ctr">
                    <a:solidFill>
                      <a:srgbClr val="E6F4F1"/>
                    </a:solidFill>
                  </a:tcPr>
                </a:tc>
                <a:tc>
                  <a:txBody>
                    <a:bodyPr wrap="square"/>
                    <a:lstStyle/>
                    <a:p>
                      <a:r>
                        <a:rPr sz="1250" b="1">
                          <a:solidFill>
                            <a:srgbClr val="1F2937"/>
                          </a:solidFill>
                          <a:latin typeface="Calibri"/>
                        </a:rPr>
                        <a:t>0.669 ± 0.010</a:t>
                      </a:r>
                    </a:p>
                  </a:txBody>
                  <a:tcPr marL="73152" marR="73152" marT="27432" marB="27432" anchor="ctr">
                    <a:solidFill>
                      <a:srgbClr val="E6F4F1"/>
                    </a:solidFill>
                  </a:tcPr>
                </a:tc>
                <a:tc>
                  <a:txBody>
                    <a:bodyPr wrap="square"/>
                    <a:lstStyle/>
                    <a:p>
                      <a:r>
                        <a:rPr sz="1250" b="1">
                          <a:solidFill>
                            <a:srgbClr val="1F2937"/>
                          </a:solidFill>
                          <a:latin typeface="Calibri"/>
                        </a:rPr>
                        <a:t>0.588 ± 0.011</a:t>
                      </a:r>
                    </a:p>
                  </a:txBody>
                  <a:tcPr marL="73152" marR="73152" marT="27432" marB="27432" anchor="ctr">
                    <a:solidFill>
                      <a:srgbClr val="E6F4F1"/>
                    </a:solidFill>
                  </a:tcPr>
                </a:tc>
              </a:tr>
              <a:tr h="457200">
                <a:tc>
                  <a:txBody>
                    <a:bodyPr wrap="square"/>
                    <a:lstStyle/>
                    <a:p>
                      <a:r>
                        <a:rPr sz="1250" b="0">
                          <a:solidFill>
                            <a:srgbClr val="1F2937"/>
                          </a:solidFill>
                          <a:latin typeface="Calibri"/>
                        </a:rPr>
                        <a:t>Pop-Shortest</a:t>
                      </a:r>
                    </a:p>
                  </a:txBody>
                  <a:tcPr marL="73152" marR="73152" marT="27432" marB="27432" anchor="ctr">
                    <a:solidFill>
                      <a:srgbClr val="FFFFFF"/>
                    </a:solidFill>
                  </a:tcPr>
                </a:tc>
                <a:tc>
                  <a:txBody>
                    <a:bodyPr wrap="square"/>
                    <a:lstStyle/>
                    <a:p>
                      <a:r>
                        <a:rPr sz="1250" b="0">
                          <a:solidFill>
                            <a:srgbClr val="1F2937"/>
                          </a:solidFill>
                          <a:latin typeface="Calibri"/>
                        </a:rPr>
                        <a:t>0.671 ± 0.007</a:t>
                      </a:r>
                    </a:p>
                  </a:txBody>
                  <a:tcPr marL="73152" marR="73152" marT="27432" marB="27432" anchor="ctr">
                    <a:solidFill>
                      <a:srgbClr val="FFFFFF"/>
                    </a:solidFill>
                  </a:tcPr>
                </a:tc>
                <a:tc>
                  <a:txBody>
                    <a:bodyPr wrap="square"/>
                    <a:lstStyle/>
                    <a:p>
                      <a:r>
                        <a:rPr sz="1250" b="0">
                          <a:solidFill>
                            <a:srgbClr val="1F2937"/>
                          </a:solidFill>
                          <a:latin typeface="Calibri"/>
                        </a:rPr>
                        <a:t>0.594 ± 0.005</a:t>
                      </a:r>
                    </a:p>
                  </a:txBody>
                  <a:tcPr marL="73152" marR="73152" marT="27432" marB="27432" anchor="ctr">
                    <a:solidFill>
                      <a:srgbClr val="FFFFFF"/>
                    </a:solidFill>
                  </a:tcPr>
                </a:tc>
              </a:tr>
            </a:tbl>
          </a:graphicData>
        </a:graphic>
      </p:graphicFrame>
      <p:sp>
        <p:nvSpPr>
          <p:cNvPr id="7" name="Rounded Rectangle 6"/>
          <p:cNvSpPr/>
          <p:nvPr/>
        </p:nvSpPr>
        <p:spPr>
          <a:xfrm>
            <a:off x="7132320" y="4434840"/>
            <a:ext cx="4526280" cy="1600200"/>
          </a:xfrm>
          <a:prstGeom prst="roundRect">
            <a:avLst>
              <a:gd name="adj" fmla="val 6000"/>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69480" y="4526280"/>
            <a:ext cx="4297680" cy="320040"/>
          </a:xfrm>
          <a:prstGeom prst="rect">
            <a:avLst/>
          </a:prstGeom>
          <a:noFill/>
        </p:spPr>
        <p:txBody>
          <a:bodyPr wrap="square" lIns="45720" rIns="45720" tIns="27432" bIns="27432" anchor="t">
            <a:spAutoFit/>
          </a:bodyPr>
          <a:lstStyle/>
          <a:p>
            <a:pPr algn="l"/>
            <a:r>
              <a:rPr sz="1400" b="1" i="0">
                <a:solidFill>
                  <a:srgbClr val="0B1F3A"/>
                </a:solidFill>
                <a:latin typeface="Cambria"/>
              </a:rPr>
              <a:t>Honest takeaway</a:t>
            </a:r>
          </a:p>
        </p:txBody>
      </p:sp>
      <p:sp>
        <p:nvSpPr>
          <p:cNvPr id="9" name="TextBox 8"/>
          <p:cNvSpPr txBox="1"/>
          <p:nvPr/>
        </p:nvSpPr>
        <p:spPr>
          <a:xfrm>
            <a:off x="7269480" y="4892040"/>
            <a:ext cx="4297680" cy="1097280"/>
          </a:xfrm>
          <a:prstGeom prst="rect">
            <a:avLst/>
          </a:prstGeom>
          <a:noFill/>
        </p:spPr>
        <p:txBody>
          <a:bodyPr wrap="square" lIns="45720" rIns="45720" tIns="27432" bIns="27432" anchor="t">
            <a:spAutoFit/>
          </a:bodyPr>
          <a:lstStyle/>
          <a:p>
            <a:pPr algn="l"/>
            <a:r>
              <a:rPr sz="1400" b="0" i="0">
                <a:solidFill>
                  <a:srgbClr val="1F2937"/>
                </a:solidFill>
                <a:latin typeface="Calibri"/>
              </a:rPr>
              <a:t>IRL beats shortest path by ~0.04 F1, but Pop-Shortest matches it. Our value: a calibrated route distribution with readable weights.</a:t>
            </a:r>
          </a:p>
        </p:txBody>
      </p:sp>
      <p:sp>
        <p:nvSpPr>
          <p:cNvPr id="10" name="TextBox 9"/>
          <p:cNvSpPr txBox="1"/>
          <p:nvPr/>
        </p:nvSpPr>
        <p:spPr>
          <a:xfrm>
            <a:off x="548640" y="5669280"/>
            <a:ext cx="6309360" cy="548640"/>
          </a:xfrm>
          <a:prstGeom prst="rect">
            <a:avLst/>
          </a:prstGeom>
          <a:noFill/>
        </p:spPr>
        <p:txBody>
          <a:bodyPr wrap="square" lIns="45720" rIns="45720" tIns="27432" bIns="27432" anchor="t">
            <a:spAutoFit/>
          </a:bodyPr>
          <a:lstStyle/>
          <a:p>
            <a:pPr algn="l"/>
            <a:r>
              <a:rPr sz="1100" b="0" i="0">
                <a:solidFill>
                  <a:srgbClr val="64748B"/>
                </a:solidFill>
                <a:latin typeface="Calibri"/>
              </a:rPr>
              <a:t>Mean ± std over 5 folds (one seed). Calibration = extra length penalty α chosen on validation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RESULTS</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What made the model work: feature-set progression</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13</a:t>
            </a:r>
          </a:p>
        </p:txBody>
      </p:sp>
      <p:graphicFrame>
        <p:nvGraphicFramePr>
          <p:cNvPr id="5" name="Chart 4"/>
          <p:cNvGraphicFramePr>
            <a:graphicFrameLocks noGrp="1"/>
          </p:cNvGraphicFramePr>
          <p:nvPr/>
        </p:nvGraphicFramePr>
        <p:xfrm>
          <a:off x="548640" y="1371600"/>
          <a:ext cx="6583680" cy="457200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7406640" y="1508760"/>
          <a:ext cx="4251960" cy="1828800"/>
        </p:xfrm>
        <a:graphic>
          <a:graphicData uri="http://schemas.openxmlformats.org/drawingml/2006/table">
            <a:tbl>
              <a:tblPr firstRow="0" bandRow="0">
                <a:tableStyleId>{5C22544A-7EE6-4342-B048-85BDC9FD1C3A}</a:tableStyleId>
              </a:tblPr>
              <a:tblGrid>
                <a:gridCol w="1463040"/>
                <a:gridCol w="1463040"/>
                <a:gridCol w="1325880"/>
              </a:tblGrid>
              <a:tr h="457200">
                <a:tc>
                  <a:txBody>
                    <a:bodyPr wrap="square"/>
                    <a:lstStyle/>
                    <a:p>
                      <a:r>
                        <a:rPr sz="1300" b="1">
                          <a:solidFill>
                            <a:srgbClr val="FFFFFF"/>
                          </a:solidFill>
                          <a:latin typeface="Calibri"/>
                        </a:rPr>
                        <a:t>Model</a:t>
                      </a:r>
                    </a:p>
                  </a:txBody>
                  <a:tcPr marL="73152" marR="73152" marT="27432" marB="27432" anchor="ctr">
                    <a:solidFill>
                      <a:srgbClr val="0B1F3A"/>
                    </a:solidFill>
                  </a:tcPr>
                </a:tc>
                <a:tc>
                  <a:txBody>
                    <a:bodyPr wrap="square"/>
                    <a:lstStyle/>
                    <a:p>
                      <a:r>
                        <a:rPr sz="1300" b="1">
                          <a:solidFill>
                            <a:srgbClr val="FFFFFF"/>
                          </a:solidFill>
                          <a:latin typeface="Calibri"/>
                        </a:rPr>
                        <a:t>Trip NLL ↓</a:t>
                      </a:r>
                    </a:p>
                  </a:txBody>
                  <a:tcPr marL="73152" marR="73152" marT="27432" marB="27432" anchor="ctr">
                    <a:solidFill>
                      <a:srgbClr val="0B1F3A"/>
                    </a:solidFill>
                  </a:tcPr>
                </a:tc>
                <a:tc>
                  <a:txBody>
                    <a:bodyPr wrap="square"/>
                    <a:lstStyle/>
                    <a:p>
                      <a:r>
                        <a:rPr sz="1300" b="1">
                          <a:solidFill>
                            <a:srgbClr val="FFFFFF"/>
                          </a:solidFill>
                          <a:latin typeface="Calibri"/>
                        </a:rPr>
                        <a:t>Top-1</a:t>
                      </a:r>
                    </a:p>
                  </a:txBody>
                  <a:tcPr marL="73152" marR="73152" marT="27432" marB="27432" anchor="ctr">
                    <a:solidFill>
                      <a:srgbClr val="0B1F3A"/>
                    </a:solidFill>
                  </a:tcPr>
                </a:tc>
              </a:tr>
              <a:tr h="457200">
                <a:tc>
                  <a:txBody>
                    <a:bodyPr wrap="square"/>
                    <a:lstStyle/>
                    <a:p>
                      <a:r>
                        <a:rPr sz="1300" b="0">
                          <a:solidFill>
                            <a:srgbClr val="1F2937"/>
                          </a:solidFill>
                          <a:latin typeface="Calibri"/>
                        </a:rPr>
                        <a:t>v1</a:t>
                      </a:r>
                    </a:p>
                  </a:txBody>
                  <a:tcPr marL="73152" marR="73152" marT="27432" marB="27432" anchor="ctr">
                    <a:solidFill>
                      <a:srgbClr val="FFFFFF"/>
                    </a:solidFill>
                  </a:tcPr>
                </a:tc>
                <a:tc>
                  <a:txBody>
                    <a:bodyPr wrap="square"/>
                    <a:lstStyle/>
                    <a:p>
                      <a:r>
                        <a:rPr sz="1300" b="0">
                          <a:solidFill>
                            <a:srgbClr val="1F2937"/>
                          </a:solidFill>
                          <a:latin typeface="Calibri"/>
                        </a:rPr>
                        <a:t>6.12</a:t>
                      </a:r>
                    </a:p>
                  </a:txBody>
                  <a:tcPr marL="73152" marR="73152" marT="27432" marB="27432" anchor="ctr">
                    <a:solidFill>
                      <a:srgbClr val="FFFFFF"/>
                    </a:solidFill>
                  </a:tcPr>
                </a:tc>
                <a:tc>
                  <a:txBody>
                    <a:bodyPr wrap="square"/>
                    <a:lstStyle/>
                    <a:p>
                      <a:r>
                        <a:rPr sz="1300" b="0">
                          <a:solidFill>
                            <a:srgbClr val="1F2937"/>
                          </a:solidFill>
                          <a:latin typeface="Calibri"/>
                        </a:rPr>
                        <a:t>92.7%</a:t>
                      </a:r>
                    </a:p>
                  </a:txBody>
                  <a:tcPr marL="73152" marR="73152" marT="27432" marB="27432" anchor="ctr">
                    <a:solidFill>
                      <a:srgbClr val="FFFFFF"/>
                    </a:solidFill>
                  </a:tcPr>
                </a:tc>
              </a:tr>
              <a:tr h="457200">
                <a:tc>
                  <a:txBody>
                    <a:bodyPr wrap="square"/>
                    <a:lstStyle/>
                    <a:p>
                      <a:r>
                        <a:rPr sz="1300" b="0">
                          <a:solidFill>
                            <a:srgbClr val="1F2937"/>
                          </a:solidFill>
                          <a:latin typeface="Calibri"/>
                        </a:rPr>
                        <a:t>v2</a:t>
                      </a:r>
                    </a:p>
                  </a:txBody>
                  <a:tcPr marL="73152" marR="73152" marT="27432" marB="27432" anchor="ctr">
                    <a:solidFill>
                      <a:srgbClr val="F1F5F9"/>
                    </a:solidFill>
                  </a:tcPr>
                </a:tc>
                <a:tc>
                  <a:txBody>
                    <a:bodyPr wrap="square"/>
                    <a:lstStyle/>
                    <a:p>
                      <a:r>
                        <a:rPr sz="1300" b="0">
                          <a:solidFill>
                            <a:srgbClr val="1F2937"/>
                          </a:solidFill>
                          <a:latin typeface="Calibri"/>
                        </a:rPr>
                        <a:t>6.06</a:t>
                      </a:r>
                    </a:p>
                  </a:txBody>
                  <a:tcPr marL="73152" marR="73152" marT="27432" marB="27432" anchor="ctr">
                    <a:solidFill>
                      <a:srgbClr val="F1F5F9"/>
                    </a:solidFill>
                  </a:tcPr>
                </a:tc>
                <a:tc>
                  <a:txBody>
                    <a:bodyPr wrap="square"/>
                    <a:lstStyle/>
                    <a:p>
                      <a:r>
                        <a:rPr sz="1300" b="0">
                          <a:solidFill>
                            <a:srgbClr val="1F2937"/>
                          </a:solidFill>
                          <a:latin typeface="Calibri"/>
                        </a:rPr>
                        <a:t>92.9%</a:t>
                      </a:r>
                    </a:p>
                  </a:txBody>
                  <a:tcPr marL="73152" marR="73152" marT="27432" marB="27432" anchor="ctr">
                    <a:solidFill>
                      <a:srgbClr val="F1F5F9"/>
                    </a:solidFill>
                  </a:tcPr>
                </a:tc>
              </a:tr>
              <a:tr h="457200">
                <a:tc>
                  <a:txBody>
                    <a:bodyPr wrap="square"/>
                    <a:lstStyle/>
                    <a:p>
                      <a:r>
                        <a:rPr sz="1300" b="1">
                          <a:solidFill>
                            <a:srgbClr val="1F2937"/>
                          </a:solidFill>
                          <a:latin typeface="Calibri"/>
                        </a:rPr>
                        <a:t>v3</a:t>
                      </a:r>
                    </a:p>
                  </a:txBody>
                  <a:tcPr marL="73152" marR="73152" marT="27432" marB="27432" anchor="ctr">
                    <a:solidFill>
                      <a:srgbClr val="E6F4F1"/>
                    </a:solidFill>
                  </a:tcPr>
                </a:tc>
                <a:tc>
                  <a:txBody>
                    <a:bodyPr wrap="square"/>
                    <a:lstStyle/>
                    <a:p>
                      <a:r>
                        <a:rPr sz="1300" b="1">
                          <a:solidFill>
                            <a:srgbClr val="1F2937"/>
                          </a:solidFill>
                          <a:latin typeface="Calibri"/>
                        </a:rPr>
                        <a:t>5.46</a:t>
                      </a:r>
                    </a:p>
                  </a:txBody>
                  <a:tcPr marL="73152" marR="73152" marT="27432" marB="27432" anchor="ctr">
                    <a:solidFill>
                      <a:srgbClr val="E6F4F1"/>
                    </a:solidFill>
                  </a:tcPr>
                </a:tc>
                <a:tc>
                  <a:txBody>
                    <a:bodyPr wrap="square"/>
                    <a:lstStyle/>
                    <a:p>
                      <a:r>
                        <a:rPr sz="1300" b="1">
                          <a:solidFill>
                            <a:srgbClr val="1F2937"/>
                          </a:solidFill>
                          <a:latin typeface="Calibri"/>
                        </a:rPr>
                        <a:t>93.7%</a:t>
                      </a:r>
                    </a:p>
                  </a:txBody>
                  <a:tcPr marL="73152" marR="73152" marT="27432" marB="27432" anchor="ctr">
                    <a:solidFill>
                      <a:srgbClr val="E6F4F1"/>
                    </a:solidFill>
                  </a:tcPr>
                </a:tc>
              </a:tr>
            </a:tbl>
          </a:graphicData>
        </a:graphic>
      </p:graphicFrame>
      <p:sp>
        <p:nvSpPr>
          <p:cNvPr id="7" name="TextBox 6"/>
          <p:cNvSpPr txBox="1"/>
          <p:nvPr/>
        </p:nvSpPr>
        <p:spPr>
          <a:xfrm>
            <a:off x="7406640" y="3566160"/>
            <a:ext cx="4251960" cy="2560320"/>
          </a:xfrm>
          <a:prstGeom prst="rect">
            <a:avLst/>
          </a:prstGeom>
          <a:noFill/>
        </p:spPr>
        <p:txBody>
          <a:bodyPr wrap="square" lIns="45720">
            <a:spAutoFit/>
          </a:bodyPr>
          <a:lstStyle/>
          <a:p>
            <a:pPr>
              <a:spcAft>
                <a:spcPts val="600"/>
              </a:spcAft>
            </a:pPr>
            <a:r>
              <a:rPr b="1" sz="1400">
                <a:solidFill>
                  <a:srgbClr val="0F766E"/>
                </a:solidFill>
                <a:latin typeface="Calibri"/>
              </a:rPr>
              <a:t>▪ v1</a:t>
            </a:r>
            <a:r>
              <a:rPr sz="1400">
                <a:solidFill>
                  <a:srgbClr val="1F2937"/>
                </a:solidFill>
                <a:latin typeface="Calibri"/>
              </a:rPr>
              <a:t> original features lost to Dijkstra (0.611 vs 0.636, p = 0.029)</a:t>
            </a:r>
          </a:p>
          <a:p>
            <a:pPr>
              <a:spcAft>
                <a:spcPts val="600"/>
              </a:spcAft>
            </a:pPr>
            <a:r>
              <a:rPr b="1" sz="1400">
                <a:solidFill>
                  <a:srgbClr val="0F766E"/>
                </a:solidFill>
                <a:latin typeface="Calibri"/>
              </a:rPr>
              <a:t>▪ v2</a:t>
            </a:r>
            <a:r>
              <a:rPr sz="1400">
                <a:solidFill>
                  <a:srgbClr val="1F2937"/>
                </a:solidFill>
                <a:latin typeface="Calibri"/>
              </a:rPr>
              <a:t> identifiable parameterisation + goal direction</a:t>
            </a:r>
          </a:p>
          <a:p>
            <a:pPr>
              <a:spcAft>
                <a:spcPts val="600"/>
              </a:spcAft>
            </a:pPr>
            <a:r>
              <a:rPr b="1" sz="1400">
                <a:solidFill>
                  <a:srgbClr val="0F766E"/>
                </a:solidFill>
                <a:latin typeface="Calibri"/>
              </a:rPr>
              <a:t>▪ v3</a:t>
            </a:r>
            <a:r>
              <a:rPr sz="1400">
                <a:solidFill>
                  <a:srgbClr val="1F2937"/>
                </a:solidFill>
                <a:latin typeface="Calibri"/>
              </a:rPr>
              <a:t> + edge familiarity: biggest likelihood gain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RESULTS</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Ablations: familiarity and turns matter most</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14</a:t>
            </a:r>
          </a:p>
        </p:txBody>
      </p:sp>
      <p:graphicFrame>
        <p:nvGraphicFramePr>
          <p:cNvPr id="5" name="Chart 4"/>
          <p:cNvGraphicFramePr>
            <a:graphicFrameLocks noGrp="1"/>
          </p:cNvGraphicFramePr>
          <p:nvPr/>
        </p:nvGraphicFramePr>
        <p:xfrm>
          <a:off x="548640" y="1371600"/>
          <a:ext cx="5486400" cy="393192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217920" y="1371600"/>
          <a:ext cx="5486400" cy="3931920"/>
        </p:xfrm>
        <a:graphic>
          <a:graphicData uri="http://schemas.openxmlformats.org/drawingml/2006/chart">
            <c:chart xmlns:c="http://schemas.openxmlformats.org/drawingml/2006/chart" r:id="rId4"/>
          </a:graphicData>
        </a:graphic>
      </p:graphicFrame>
      <p:sp>
        <p:nvSpPr>
          <p:cNvPr id="7" name="Rounded Rectangle 6"/>
          <p:cNvSpPr/>
          <p:nvPr/>
        </p:nvSpPr>
        <p:spPr>
          <a:xfrm>
            <a:off x="548640" y="5440680"/>
            <a:ext cx="11109960" cy="777240"/>
          </a:xfrm>
          <a:prstGeom prst="roundRect">
            <a:avLst>
              <a:gd name="adj" fmla="val 6000"/>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486400"/>
            <a:ext cx="10789920" cy="685800"/>
          </a:xfrm>
          <a:prstGeom prst="rect">
            <a:avLst/>
          </a:prstGeom>
          <a:noFill/>
        </p:spPr>
        <p:txBody>
          <a:bodyPr wrap="square" lIns="45720" rIns="45720" tIns="27432" bIns="27432" anchor="ctr">
            <a:spAutoFit/>
          </a:bodyPr>
          <a:lstStyle/>
          <a:p>
            <a:pPr algn="l"/>
            <a:r>
              <a:rPr sz="1300" b="0" i="0">
                <a:solidFill>
                  <a:srgbClr val="1F2937"/>
                </a:solidFill>
                <a:latin typeface="Calibri"/>
              </a:rPr>
              <a:t>Turn features: likelihood collapses (NLL +1.78) but F1 rises, because validation picked a larger length penalty (α = 1.0). Overlap and likelihood disagree here. Single split, one seed: the F1 95% CI is about ±0.025.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DEMO</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Live demo: compare routes and ask "why this route?"</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15</a:t>
            </a:r>
          </a:p>
        </p:txBody>
      </p:sp>
      <p:pic>
        <p:nvPicPr>
          <p:cNvPr id="5" name="Picture 4" descr="demo_routes.jpg"/>
          <p:cNvPicPr>
            <a:picLocks noChangeAspect="1"/>
          </p:cNvPicPr>
          <p:nvPr/>
        </p:nvPicPr>
        <p:blipFill>
          <a:blip r:embed="rId3"/>
          <a:stretch>
            <a:fillRect/>
          </a:stretch>
        </p:blipFill>
        <p:spPr>
          <a:xfrm>
            <a:off x="548640" y="1463040"/>
            <a:ext cx="4315968" cy="2697480"/>
          </a:xfrm>
          <a:prstGeom prst="rect">
            <a:avLst/>
          </a:prstGeom>
        </p:spPr>
      </p:pic>
      <p:pic>
        <p:nvPicPr>
          <p:cNvPr id="6" name="Picture 5" descr="demo_why.jpg"/>
          <p:cNvPicPr>
            <a:picLocks noChangeAspect="1"/>
          </p:cNvPicPr>
          <p:nvPr/>
        </p:nvPicPr>
        <p:blipFill>
          <a:blip r:embed="rId4"/>
          <a:stretch>
            <a:fillRect/>
          </a:stretch>
        </p:blipFill>
        <p:spPr>
          <a:xfrm>
            <a:off x="4983480" y="1463040"/>
            <a:ext cx="3839829" cy="2697480"/>
          </a:xfrm>
          <a:prstGeom prst="rect">
            <a:avLst/>
          </a:prstGeom>
        </p:spPr>
      </p:pic>
      <p:sp>
        <p:nvSpPr>
          <p:cNvPr id="7" name="Rounded Rectangle 6"/>
          <p:cNvSpPr/>
          <p:nvPr/>
        </p:nvSpPr>
        <p:spPr>
          <a:xfrm>
            <a:off x="548640" y="4526280"/>
            <a:ext cx="11109960" cy="169164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617720"/>
            <a:ext cx="5303520" cy="1554480"/>
          </a:xfrm>
          <a:prstGeom prst="rect">
            <a:avLst/>
          </a:prstGeom>
          <a:noFill/>
        </p:spPr>
        <p:txBody>
          <a:bodyPr wrap="square" lIns="45720">
            <a:spAutoFit/>
          </a:bodyPr>
          <a:lstStyle/>
          <a:p>
            <a:pPr>
              <a:spcAft>
                <a:spcPts val="500"/>
              </a:spcAft>
            </a:pPr>
            <a:r>
              <a:rPr b="1" sz="1400">
                <a:solidFill>
                  <a:srgbClr val="0F766E"/>
                </a:solidFill>
                <a:latin typeface="Calibri"/>
              </a:rPr>
              <a:t>▪ Compare</a:t>
            </a:r>
            <a:r>
              <a:rPr sz="1400">
                <a:solidFill>
                  <a:srgbClr val="1F2937"/>
                </a:solidFill>
                <a:latin typeface="Calibri"/>
              </a:rPr>
              <a:t> learned vs shortest vs fastest vs the real driver</a:t>
            </a:r>
          </a:p>
          <a:p>
            <a:pPr>
              <a:spcAft>
                <a:spcPts val="500"/>
              </a:spcAft>
            </a:pPr>
            <a:r>
              <a:rPr b="1" sz="1400">
                <a:solidFill>
                  <a:srgbClr val="0F766E"/>
                </a:solidFill>
                <a:latin typeface="Calibri"/>
              </a:rPr>
              <a:t>▪ Search</a:t>
            </a:r>
            <a:r>
              <a:rPr sz="1400">
                <a:solidFill>
                  <a:srgbClr val="1F2937"/>
                </a:solidFill>
                <a:latin typeface="Calibri"/>
              </a:rPr>
              <a:t> type street names (offline, from the OSM graph) or click the map</a:t>
            </a:r>
          </a:p>
        </p:txBody>
      </p:sp>
      <p:sp>
        <p:nvSpPr>
          <p:cNvPr id="9" name="TextBox 8"/>
          <p:cNvSpPr txBox="1"/>
          <p:nvPr/>
        </p:nvSpPr>
        <p:spPr>
          <a:xfrm>
            <a:off x="6217920" y="4617720"/>
            <a:ext cx="5303520" cy="1554480"/>
          </a:xfrm>
          <a:prstGeom prst="rect">
            <a:avLst/>
          </a:prstGeom>
          <a:noFill/>
        </p:spPr>
        <p:txBody>
          <a:bodyPr wrap="square" lIns="45720">
            <a:spAutoFit/>
          </a:bodyPr>
          <a:lstStyle/>
          <a:p>
            <a:pPr>
              <a:spcAft>
                <a:spcPts val="500"/>
              </a:spcAft>
            </a:pPr>
            <a:r>
              <a:rPr b="1" sz="1400">
                <a:solidFill>
                  <a:srgbClr val="0F766E"/>
                </a:solidFill>
                <a:latin typeface="Calibri"/>
              </a:rPr>
              <a:t>▪ Explain</a:t>
            </a:r>
            <a:r>
              <a:rPr sz="1400">
                <a:solidFill>
                  <a:srgbClr val="1F2937"/>
                </a:solidFill>
                <a:latin typeface="Calibri"/>
              </a:rPr>
              <a:t> exact per-feature contributions, since R = Σ weight × feature</a:t>
            </a:r>
          </a:p>
          <a:p>
            <a:pPr>
              <a:spcAft>
                <a:spcPts val="500"/>
              </a:spcAft>
            </a:pPr>
            <a:r>
              <a:rPr b="1" sz="1400">
                <a:solidFill>
                  <a:srgbClr val="0F766E"/>
                </a:solidFill>
                <a:latin typeface="Calibri"/>
              </a:rPr>
              <a:t>▪ Replay</a:t>
            </a:r>
            <a:r>
              <a:rPr sz="1400">
                <a:solidFill>
                  <a:srgbClr val="1F2937"/>
                </a:solidFill>
                <a:latin typeface="Calibri"/>
              </a:rPr>
              <a:t> held-out real taxi trips, with overlap % to the driver</a:t>
            </a:r>
          </a:p>
        </p:txBody>
      </p:sp>
      <p:sp>
        <p:nvSpPr>
          <p:cNvPr id="10" name="Rounded Rectangle 9"/>
          <p:cNvSpPr/>
          <p:nvPr/>
        </p:nvSpPr>
        <p:spPr>
          <a:xfrm>
            <a:off x="9006840" y="1417320"/>
            <a:ext cx="2651760" cy="2880360"/>
          </a:xfrm>
          <a:prstGeom prst="roundRect">
            <a:avLst>
              <a:gd name="adj" fmla="val 6000"/>
            </a:avLst>
          </a:prstGeom>
          <a:solidFill>
            <a:srgbClr val="ECF3FB"/>
          </a:solidFill>
          <a:ln w="12700">
            <a:solidFill>
              <a:srgbClr val="BFD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1508760"/>
            <a:ext cx="2377440" cy="365760"/>
          </a:xfrm>
          <a:prstGeom prst="rect">
            <a:avLst/>
          </a:prstGeom>
          <a:noFill/>
        </p:spPr>
        <p:txBody>
          <a:bodyPr wrap="square" lIns="45720" rIns="45720" tIns="27432" bIns="27432" anchor="t">
            <a:spAutoFit/>
          </a:bodyPr>
          <a:lstStyle/>
          <a:p>
            <a:pPr algn="l"/>
            <a:r>
              <a:rPr sz="1600" b="1" i="0">
                <a:solidFill>
                  <a:srgbClr val="0B1F3A"/>
                </a:solidFill>
                <a:latin typeface="Cambria"/>
              </a:rPr>
              <a:t>Run it</a:t>
            </a:r>
          </a:p>
        </p:txBody>
      </p:sp>
      <p:sp>
        <p:nvSpPr>
          <p:cNvPr id="12" name="TextBox 11"/>
          <p:cNvSpPr txBox="1"/>
          <p:nvPr/>
        </p:nvSpPr>
        <p:spPr>
          <a:xfrm>
            <a:off x="9144000" y="1920240"/>
            <a:ext cx="2423160" cy="2286000"/>
          </a:xfrm>
          <a:prstGeom prst="rect">
            <a:avLst/>
          </a:prstGeom>
          <a:noFill/>
        </p:spPr>
        <p:txBody>
          <a:bodyPr wrap="square" lIns="45720" rIns="45720" tIns="27432" bIns="27432" anchor="t">
            <a:spAutoFit/>
          </a:bodyPr>
          <a:lstStyle/>
          <a:p>
            <a:pPr algn="l"/>
            <a:r>
              <a:rPr sz="1250" b="0" i="0">
                <a:solidFill>
                  <a:srgbClr val="1F2937"/>
                </a:solidFill>
                <a:latin typeface="Consolas"/>
              </a:rPr>
              <a:t>python run_api.py</a:t>
            </a:r>
          </a:p>
          <a:p>
            <a:pPr algn="l"/>
            <a:r>
              <a:rPr sz="1250" b="0" i="0">
                <a:solidFill>
                  <a:srgbClr val="1F2937"/>
                </a:solidFill>
                <a:latin typeface="Consolas"/>
              </a:rPr>
              <a:t/>
            </a:r>
          </a:p>
          <a:p>
            <a:pPr algn="l"/>
            <a:r>
              <a:rPr sz="1250" b="0" i="0">
                <a:solidFill>
                  <a:srgbClr val="1F2937"/>
                </a:solidFill>
                <a:latin typeface="Consolas"/>
              </a:rPr>
              <a:t>open http://localhost:5000</a:t>
            </a:r>
          </a:p>
          <a:p>
            <a:pPr algn="l"/>
            <a:r>
              <a:rPr sz="1250" b="0" i="0">
                <a:solidFill>
                  <a:srgbClr val="1F2937"/>
                </a:solidFill>
                <a:latin typeface="Consolas"/>
              </a:rPr>
              <a:t/>
            </a:r>
          </a:p>
          <a:p>
            <a:pPr algn="l"/>
            <a:r>
              <a:rPr sz="1250" b="0" i="0">
                <a:solidFill>
                  <a:srgbClr val="1F2937"/>
                </a:solidFill>
                <a:latin typeface="Consolas"/>
              </a:rPr>
              <a:t>Uses the v3 model and</a:t>
            </a:r>
          </a:p>
          <a:p>
            <a:pPr algn="l"/>
            <a:r>
              <a:rPr sz="1250" b="0" i="0">
                <a:solidFill>
                  <a:srgbClr val="1F2937"/>
                </a:solidFill>
                <a:latin typeface="Consolas"/>
              </a:rPr>
              <a:t>validation-tuned 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DISCUSSION</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Limitations and honest takeaways</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16</a:t>
            </a:r>
          </a:p>
        </p:txBody>
      </p:sp>
      <p:sp>
        <p:nvSpPr>
          <p:cNvPr id="5" name="Rounded Rectangle 4"/>
          <p:cNvSpPr/>
          <p:nvPr/>
        </p:nvSpPr>
        <p:spPr>
          <a:xfrm>
            <a:off x="548640" y="1508760"/>
            <a:ext cx="3566160" cy="21031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19"/>
            <a:ext cx="3200400" cy="457200"/>
          </a:xfrm>
          <a:prstGeom prst="rect">
            <a:avLst/>
          </a:prstGeom>
          <a:noFill/>
        </p:spPr>
        <p:txBody>
          <a:bodyPr wrap="square" lIns="45720" rIns="45720" tIns="27432" bIns="27432" anchor="t">
            <a:spAutoFit/>
          </a:bodyPr>
          <a:lstStyle/>
          <a:p>
            <a:pPr algn="l"/>
            <a:r>
              <a:rPr sz="1700" b="1" i="0">
                <a:solidFill>
                  <a:srgbClr val="B91C1C"/>
                </a:solidFill>
                <a:latin typeface="Cambria"/>
              </a:rPr>
              <a:t>Modest margin</a:t>
            </a:r>
          </a:p>
        </p:txBody>
      </p:sp>
      <p:sp>
        <p:nvSpPr>
          <p:cNvPr id="7" name="TextBox 6"/>
          <p:cNvSpPr txBox="1"/>
          <p:nvPr/>
        </p:nvSpPr>
        <p:spPr>
          <a:xfrm>
            <a:off x="731520" y="2194560"/>
            <a:ext cx="3200400" cy="1280160"/>
          </a:xfrm>
          <a:prstGeom prst="rect">
            <a:avLst/>
          </a:prstGeom>
          <a:noFill/>
        </p:spPr>
        <p:txBody>
          <a:bodyPr wrap="square" lIns="45720" rIns="45720" tIns="27432" bIns="27432" anchor="t">
            <a:spAutoFit/>
          </a:bodyPr>
          <a:lstStyle/>
          <a:p>
            <a:pPr algn="l"/>
            <a:r>
              <a:rPr sz="1400" b="0" i="0">
                <a:solidFill>
                  <a:srgbClr val="1F2937"/>
                </a:solidFill>
                <a:latin typeface="Calibri"/>
              </a:rPr>
              <a:t>IRL beats shortest by ~0.04 F1; a popularity-weighted shortest path ties it in CV.</a:t>
            </a:r>
          </a:p>
        </p:txBody>
      </p:sp>
      <p:sp>
        <p:nvSpPr>
          <p:cNvPr id="8" name="Rounded Rectangle 7"/>
          <p:cNvSpPr/>
          <p:nvPr/>
        </p:nvSpPr>
        <p:spPr>
          <a:xfrm>
            <a:off x="4297679" y="1508760"/>
            <a:ext cx="3566160" cy="21031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645919"/>
            <a:ext cx="3200400" cy="457200"/>
          </a:xfrm>
          <a:prstGeom prst="rect">
            <a:avLst/>
          </a:prstGeom>
          <a:noFill/>
        </p:spPr>
        <p:txBody>
          <a:bodyPr wrap="square" lIns="45720" rIns="45720" tIns="27432" bIns="27432" anchor="t">
            <a:spAutoFit/>
          </a:bodyPr>
          <a:lstStyle/>
          <a:p>
            <a:pPr algn="l"/>
            <a:r>
              <a:rPr sz="1700" b="1" i="0">
                <a:solidFill>
                  <a:srgbClr val="B91C1C"/>
                </a:solidFill>
                <a:latin typeface="Cambria"/>
              </a:rPr>
              <a:t>Single seed, one city</a:t>
            </a:r>
          </a:p>
        </p:txBody>
      </p:sp>
      <p:sp>
        <p:nvSpPr>
          <p:cNvPr id="10" name="TextBox 9"/>
          <p:cNvSpPr txBox="1"/>
          <p:nvPr/>
        </p:nvSpPr>
        <p:spPr>
          <a:xfrm>
            <a:off x="4480559" y="2194560"/>
            <a:ext cx="3200400" cy="1280160"/>
          </a:xfrm>
          <a:prstGeom prst="rect">
            <a:avLst/>
          </a:prstGeom>
          <a:noFill/>
        </p:spPr>
        <p:txBody>
          <a:bodyPr wrap="square" lIns="45720" rIns="45720" tIns="27432" bIns="27432" anchor="t">
            <a:spAutoFit/>
          </a:bodyPr>
          <a:lstStyle/>
          <a:p>
            <a:pPr algn="l"/>
            <a:r>
              <a:rPr sz="1400" b="0" i="0">
                <a:solidFill>
                  <a:srgbClr val="1F2937"/>
                </a:solidFill>
                <a:latin typeface="Calibri"/>
              </a:rPr>
              <a:t>Fold variation reported; seed variation and other cities not measured.</a:t>
            </a:r>
          </a:p>
        </p:txBody>
      </p:sp>
      <p:sp>
        <p:nvSpPr>
          <p:cNvPr id="11" name="Rounded Rectangle 10"/>
          <p:cNvSpPr/>
          <p:nvPr/>
        </p:nvSpPr>
        <p:spPr>
          <a:xfrm>
            <a:off x="8046719" y="1508760"/>
            <a:ext cx="3566160" cy="21031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9" y="1645919"/>
            <a:ext cx="3200400" cy="457200"/>
          </a:xfrm>
          <a:prstGeom prst="rect">
            <a:avLst/>
          </a:prstGeom>
          <a:noFill/>
        </p:spPr>
        <p:txBody>
          <a:bodyPr wrap="square" lIns="45720" rIns="45720" tIns="27432" bIns="27432" anchor="t">
            <a:spAutoFit/>
          </a:bodyPr>
          <a:lstStyle/>
          <a:p>
            <a:pPr algn="l"/>
            <a:r>
              <a:rPr sz="1700" b="1" i="0">
                <a:solidFill>
                  <a:srgbClr val="F59E0B"/>
                </a:solidFill>
                <a:latin typeface="Cambria"/>
              </a:rPr>
              <a:t>Linear, single reward</a:t>
            </a:r>
          </a:p>
        </p:txBody>
      </p:sp>
      <p:sp>
        <p:nvSpPr>
          <p:cNvPr id="13" name="TextBox 12"/>
          <p:cNvSpPr txBox="1"/>
          <p:nvPr/>
        </p:nvSpPr>
        <p:spPr>
          <a:xfrm>
            <a:off x="8229599" y="2194560"/>
            <a:ext cx="3200400" cy="1280160"/>
          </a:xfrm>
          <a:prstGeom prst="rect">
            <a:avLst/>
          </a:prstGeom>
          <a:noFill/>
        </p:spPr>
        <p:txBody>
          <a:bodyPr wrap="square" lIns="45720" rIns="45720" tIns="27432" bIns="27432" anchor="t">
            <a:spAutoFit/>
          </a:bodyPr>
          <a:lstStyle/>
          <a:p>
            <a:pPr algn="l"/>
            <a:r>
              <a:rPr sz="1400" b="0" i="0">
                <a:solidFill>
                  <a:srgbClr val="1F2937"/>
                </a:solidFill>
                <a:latin typeface="Calibri"/>
              </a:rPr>
              <a:t>No feature interactions, one w for every driver and time of day.</a:t>
            </a:r>
          </a:p>
        </p:txBody>
      </p:sp>
      <p:sp>
        <p:nvSpPr>
          <p:cNvPr id="14" name="Rounded Rectangle 13"/>
          <p:cNvSpPr/>
          <p:nvPr/>
        </p:nvSpPr>
        <p:spPr>
          <a:xfrm>
            <a:off x="548640" y="3840479"/>
            <a:ext cx="3566160" cy="21031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77639"/>
            <a:ext cx="3200400" cy="457200"/>
          </a:xfrm>
          <a:prstGeom prst="rect">
            <a:avLst/>
          </a:prstGeom>
          <a:noFill/>
        </p:spPr>
        <p:txBody>
          <a:bodyPr wrap="square" lIns="45720" rIns="45720" tIns="27432" bIns="27432" anchor="t">
            <a:spAutoFit/>
          </a:bodyPr>
          <a:lstStyle/>
          <a:p>
            <a:pPr algn="l"/>
            <a:r>
              <a:rPr sz="1700" b="1" i="0">
                <a:solidFill>
                  <a:srgbClr val="F59E0B"/>
                </a:solidFill>
                <a:latin typeface="Cambria"/>
              </a:rPr>
              <a:t>Map-matching noise</a:t>
            </a:r>
          </a:p>
        </p:txBody>
      </p:sp>
      <p:sp>
        <p:nvSpPr>
          <p:cNvPr id="16" name="TextBox 15"/>
          <p:cNvSpPr txBox="1"/>
          <p:nvPr/>
        </p:nvSpPr>
        <p:spPr>
          <a:xfrm>
            <a:off x="731520" y="4526279"/>
            <a:ext cx="3200400" cy="1280160"/>
          </a:xfrm>
          <a:prstGeom prst="rect">
            <a:avLst/>
          </a:prstGeom>
          <a:noFill/>
        </p:spPr>
        <p:txBody>
          <a:bodyPr wrap="square" lIns="45720" rIns="45720" tIns="27432" bIns="27432" anchor="t">
            <a:spAutoFit/>
          </a:bodyPr>
          <a:lstStyle/>
          <a:p>
            <a:pPr algn="l"/>
            <a:r>
              <a:rPr sz="1400" b="0" i="0">
                <a:solidFill>
                  <a:srgbClr val="1F2937"/>
                </a:solidFill>
                <a:latin typeface="Calibri"/>
              </a:rPr>
              <a:t>Only 40% of trips matched; errors are treated as ground truth.</a:t>
            </a:r>
          </a:p>
        </p:txBody>
      </p:sp>
      <p:sp>
        <p:nvSpPr>
          <p:cNvPr id="17" name="Rounded Rectangle 16"/>
          <p:cNvSpPr/>
          <p:nvPr/>
        </p:nvSpPr>
        <p:spPr>
          <a:xfrm>
            <a:off x="4297679" y="3840479"/>
            <a:ext cx="3566160" cy="21031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3977639"/>
            <a:ext cx="3200400" cy="457200"/>
          </a:xfrm>
          <a:prstGeom prst="rect">
            <a:avLst/>
          </a:prstGeom>
          <a:noFill/>
        </p:spPr>
        <p:txBody>
          <a:bodyPr wrap="square" lIns="45720" rIns="45720" tIns="27432" bIns="27432" anchor="t">
            <a:spAutoFit/>
          </a:bodyPr>
          <a:lstStyle/>
          <a:p>
            <a:pPr algn="l"/>
            <a:r>
              <a:rPr sz="1700" b="1" i="0">
                <a:solidFill>
                  <a:srgbClr val="F59E0B"/>
                </a:solidFill>
                <a:latin typeface="Cambria"/>
              </a:rPr>
              <a:t>Static network</a:t>
            </a:r>
          </a:p>
        </p:txBody>
      </p:sp>
      <p:sp>
        <p:nvSpPr>
          <p:cNvPr id="19" name="TextBox 18"/>
          <p:cNvSpPr txBox="1"/>
          <p:nvPr/>
        </p:nvSpPr>
        <p:spPr>
          <a:xfrm>
            <a:off x="4480559" y="4526279"/>
            <a:ext cx="3200400" cy="1280160"/>
          </a:xfrm>
          <a:prstGeom prst="rect">
            <a:avLst/>
          </a:prstGeom>
          <a:noFill/>
        </p:spPr>
        <p:txBody>
          <a:bodyPr wrap="square" lIns="45720" rIns="45720" tIns="27432" bIns="27432" anchor="t">
            <a:spAutoFit/>
          </a:bodyPr>
          <a:lstStyle/>
          <a:p>
            <a:pPr algn="l"/>
            <a:r>
              <a:rPr sz="1400" b="0" i="0">
                <a:solidFill>
                  <a:srgbClr val="1F2937"/>
                </a:solidFill>
                <a:latin typeface="Calibri"/>
              </a:rPr>
              <a:t>No congestion or time-of-day in the state; free-flow times only.</a:t>
            </a:r>
          </a:p>
        </p:txBody>
      </p:sp>
      <p:sp>
        <p:nvSpPr>
          <p:cNvPr id="20" name="Rounded Rectangle 19"/>
          <p:cNvSpPr/>
          <p:nvPr/>
        </p:nvSpPr>
        <p:spPr>
          <a:xfrm>
            <a:off x="8046719" y="3840479"/>
            <a:ext cx="3566160" cy="210312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9" y="3977639"/>
            <a:ext cx="3200400" cy="457200"/>
          </a:xfrm>
          <a:prstGeom prst="rect">
            <a:avLst/>
          </a:prstGeom>
          <a:noFill/>
        </p:spPr>
        <p:txBody>
          <a:bodyPr wrap="square" lIns="45720" rIns="45720" tIns="27432" bIns="27432" anchor="t">
            <a:spAutoFit/>
          </a:bodyPr>
          <a:lstStyle/>
          <a:p>
            <a:pPr algn="l"/>
            <a:r>
              <a:rPr sz="1700" b="1" i="0">
                <a:solidFill>
                  <a:srgbClr val="F59E0B"/>
                </a:solidFill>
                <a:latin typeface="Cambria"/>
              </a:rPr>
              <a:t>Model-level explanations</a:t>
            </a:r>
          </a:p>
        </p:txBody>
      </p:sp>
      <p:sp>
        <p:nvSpPr>
          <p:cNvPr id="22" name="TextBox 21"/>
          <p:cNvSpPr txBox="1"/>
          <p:nvPr/>
        </p:nvSpPr>
        <p:spPr>
          <a:xfrm>
            <a:off x="8229599" y="4526279"/>
            <a:ext cx="3200400" cy="1280160"/>
          </a:xfrm>
          <a:prstGeom prst="rect">
            <a:avLst/>
          </a:prstGeom>
          <a:noFill/>
        </p:spPr>
        <p:txBody>
          <a:bodyPr wrap="square" lIns="45720" rIns="45720" tIns="27432" bIns="27432" anchor="t">
            <a:spAutoFit/>
          </a:bodyPr>
          <a:lstStyle/>
          <a:p>
            <a:pPr algn="l"/>
            <a:r>
              <a:rPr sz="1400" b="0" i="0">
                <a:solidFill>
                  <a:srgbClr val="1F2937"/>
                </a:solidFill>
                <a:latin typeface="Calibri"/>
              </a:rPr>
              <a:t>They show what the reward values, not why a driver chose a road.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WRAP-UP</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Conclusion and future work</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17</a:t>
            </a:r>
          </a:p>
        </p:txBody>
      </p:sp>
      <p:sp>
        <p:nvSpPr>
          <p:cNvPr id="5" name="Rounded Rectangle 4"/>
          <p:cNvSpPr/>
          <p:nvPr/>
        </p:nvSpPr>
        <p:spPr>
          <a:xfrm>
            <a:off x="548640" y="1463040"/>
            <a:ext cx="5486400" cy="466344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5029200" cy="365760"/>
          </a:xfrm>
          <a:prstGeom prst="rect">
            <a:avLst/>
          </a:prstGeom>
          <a:noFill/>
        </p:spPr>
        <p:txBody>
          <a:bodyPr wrap="square" lIns="45720" rIns="45720" tIns="27432" bIns="27432" anchor="t">
            <a:spAutoFit/>
          </a:bodyPr>
          <a:lstStyle/>
          <a:p>
            <a:pPr algn="l"/>
            <a:r>
              <a:rPr sz="2000" b="1" i="0">
                <a:solidFill>
                  <a:srgbClr val="0B1F3A"/>
                </a:solidFill>
                <a:latin typeface="Cambria"/>
              </a:rPr>
              <a:t>What we showed</a:t>
            </a:r>
          </a:p>
        </p:txBody>
      </p:sp>
      <p:sp>
        <p:nvSpPr>
          <p:cNvPr id="7" name="TextBox 6"/>
          <p:cNvSpPr txBox="1"/>
          <p:nvPr/>
        </p:nvSpPr>
        <p:spPr>
          <a:xfrm>
            <a:off x="777240" y="2057400"/>
            <a:ext cx="5029200" cy="3931920"/>
          </a:xfrm>
          <a:prstGeom prst="rect">
            <a:avLst/>
          </a:prstGeom>
          <a:noFill/>
        </p:spPr>
        <p:txBody>
          <a:bodyPr wrap="square" lIns="45720">
            <a:spAutoFit/>
          </a:bodyPr>
          <a:lstStyle/>
          <a:p>
            <a:pPr>
              <a:spcAft>
                <a:spcPts val="1100"/>
              </a:spcAft>
            </a:pPr>
            <a:r>
              <a:rPr b="1" sz="1700">
                <a:solidFill>
                  <a:srgbClr val="0F766E"/>
                </a:solidFill>
                <a:latin typeface="Calibri"/>
              </a:rPr>
              <a:t>▪ Real data</a:t>
            </a:r>
            <a:r>
              <a:rPr sz="1700">
                <a:solidFill>
                  <a:srgbClr val="1F2937"/>
                </a:solidFill>
                <a:latin typeface="Calibri"/>
              </a:rPr>
              <a:t> 3,000 Porto taxi trips, HMM map-matched</a:t>
            </a:r>
          </a:p>
          <a:p>
            <a:pPr>
              <a:spcAft>
                <a:spcPts val="1100"/>
              </a:spcAft>
            </a:pPr>
            <a:r>
              <a:rPr b="1" sz="1700">
                <a:solidFill>
                  <a:srgbClr val="0F766E"/>
                </a:solidFill>
                <a:latin typeface="Calibri"/>
              </a:rPr>
              <a:t>▪ Edge-state MDP</a:t>
            </a:r>
            <a:r>
              <a:rPr sz="1700">
                <a:solidFill>
                  <a:srgbClr val="1F2937"/>
                </a:solidFill>
                <a:latin typeface="Calibri"/>
              </a:rPr>
              <a:t> exact MaxEnt IRL, 11 interpretable features</a:t>
            </a:r>
          </a:p>
          <a:p>
            <a:pPr>
              <a:spcAft>
                <a:spcPts val="1100"/>
              </a:spcAft>
            </a:pPr>
            <a:r>
              <a:rPr b="1" sz="1700">
                <a:solidFill>
                  <a:srgbClr val="0F766E"/>
                </a:solidFill>
                <a:latin typeface="Calibri"/>
              </a:rPr>
              <a:t>▪ F1 0.682 vs 0.636</a:t>
            </a:r>
            <a:r>
              <a:rPr sz="1700">
                <a:solidFill>
                  <a:srgbClr val="1F2937"/>
                </a:solidFill>
                <a:latin typeface="Calibri"/>
              </a:rPr>
              <a:t> significant (p = 2.7e-5), CV 0.669 vs 0.630</a:t>
            </a:r>
          </a:p>
          <a:p>
            <a:pPr>
              <a:spcAft>
                <a:spcPts val="1100"/>
              </a:spcAft>
            </a:pPr>
            <a:r>
              <a:rPr b="1" sz="1700">
                <a:solidFill>
                  <a:srgbClr val="0F766E"/>
                </a:solidFill>
                <a:latin typeface="Calibri"/>
              </a:rPr>
              <a:t>▪ Drivers prefer</a:t>
            </a:r>
            <a:r>
              <a:rPr sz="1700">
                <a:solidFill>
                  <a:srgbClr val="1F2937"/>
                </a:solidFill>
                <a:latin typeface="Calibri"/>
              </a:rPr>
              <a:t> familiar roads, few turns, goal-directed moves</a:t>
            </a:r>
          </a:p>
          <a:p>
            <a:pPr>
              <a:spcAft>
                <a:spcPts val="1100"/>
              </a:spcAft>
            </a:pPr>
            <a:r>
              <a:rPr b="1" sz="1700">
                <a:solidFill>
                  <a:srgbClr val="0F766E"/>
                </a:solidFill>
                <a:latin typeface="Calibri"/>
              </a:rPr>
              <a:t>▪ Open demo</a:t>
            </a:r>
            <a:r>
              <a:rPr sz="1700">
                <a:solidFill>
                  <a:srgbClr val="1F2937"/>
                </a:solidFill>
                <a:latin typeface="Calibri"/>
              </a:rPr>
              <a:t> explainable route comparison</a:t>
            </a:r>
          </a:p>
        </p:txBody>
      </p:sp>
      <p:sp>
        <p:nvSpPr>
          <p:cNvPr id="8" name="Rounded Rectangle 7"/>
          <p:cNvSpPr/>
          <p:nvPr/>
        </p:nvSpPr>
        <p:spPr>
          <a:xfrm>
            <a:off x="6309360" y="1463040"/>
            <a:ext cx="5349240" cy="4663440"/>
          </a:xfrm>
          <a:prstGeom prst="roundRect">
            <a:avLst>
              <a:gd name="adj" fmla="val 6000"/>
            </a:avLst>
          </a:prstGeom>
          <a:solidFill>
            <a:srgbClr val="FFFFFF"/>
          </a:solidFill>
          <a:ln w="1270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554480"/>
            <a:ext cx="4937760" cy="365760"/>
          </a:xfrm>
          <a:prstGeom prst="rect">
            <a:avLst/>
          </a:prstGeom>
          <a:noFill/>
        </p:spPr>
        <p:txBody>
          <a:bodyPr wrap="square" lIns="45720" rIns="45720" tIns="27432" bIns="27432" anchor="t">
            <a:spAutoFit/>
          </a:bodyPr>
          <a:lstStyle/>
          <a:p>
            <a:pPr algn="l"/>
            <a:r>
              <a:rPr sz="2000" b="1" i="0">
                <a:solidFill>
                  <a:srgbClr val="0B1F3A"/>
                </a:solidFill>
                <a:latin typeface="Cambria"/>
              </a:rPr>
              <a:t>Future work</a:t>
            </a:r>
          </a:p>
        </p:txBody>
      </p:sp>
      <p:sp>
        <p:nvSpPr>
          <p:cNvPr id="10" name="TextBox 9"/>
          <p:cNvSpPr txBox="1"/>
          <p:nvPr/>
        </p:nvSpPr>
        <p:spPr>
          <a:xfrm>
            <a:off x="6537960" y="2057400"/>
            <a:ext cx="4937760" cy="3931920"/>
          </a:xfrm>
          <a:prstGeom prst="rect">
            <a:avLst/>
          </a:prstGeom>
          <a:noFill/>
        </p:spPr>
        <p:txBody>
          <a:bodyPr wrap="square" lIns="45720">
            <a:spAutoFit/>
          </a:bodyPr>
          <a:lstStyle/>
          <a:p>
            <a:pPr>
              <a:spcAft>
                <a:spcPts val="1100"/>
              </a:spcAft>
            </a:pPr>
            <a:r>
              <a:rPr sz="1700">
                <a:solidFill>
                  <a:srgbClr val="1F2937"/>
                </a:solidFill>
                <a:latin typeface="Calibri"/>
              </a:rPr>
              <a:t>▪ More seeds and sample-size curves</a:t>
            </a:r>
          </a:p>
          <a:p>
            <a:pPr>
              <a:spcAft>
                <a:spcPts val="1100"/>
              </a:spcAft>
            </a:pPr>
            <a:r>
              <a:rPr b="1" sz="1700">
                <a:solidFill>
                  <a:srgbClr val="0F766E"/>
                </a:solidFill>
                <a:latin typeface="Calibri"/>
              </a:rPr>
              <a:t>▪ Context-aware reward</a:t>
            </a:r>
            <a:r>
              <a:rPr sz="1700">
                <a:solidFill>
                  <a:srgbClr val="1F2937"/>
                </a:solidFill>
                <a:latin typeface="Calibri"/>
              </a:rPr>
              <a:t> time of day, driver clusters</a:t>
            </a:r>
          </a:p>
          <a:p>
            <a:pPr>
              <a:spcAft>
                <a:spcPts val="1100"/>
              </a:spcAft>
            </a:pPr>
            <a:r>
              <a:rPr b="1" sz="1700">
                <a:solidFill>
                  <a:srgbClr val="0F766E"/>
                </a:solidFill>
                <a:latin typeface="Calibri"/>
              </a:rPr>
              <a:t>▪ Non-linear reward</a:t>
            </a:r>
            <a:r>
              <a:rPr sz="1700">
                <a:solidFill>
                  <a:srgbClr val="1F2937"/>
                </a:solidFill>
                <a:latin typeface="Calibri"/>
              </a:rPr>
              <a:t> neural features, keep explanations</a:t>
            </a:r>
          </a:p>
          <a:p>
            <a:pPr>
              <a:spcAft>
                <a:spcPts val="1100"/>
              </a:spcAft>
            </a:pPr>
            <a:r>
              <a:rPr sz="1700">
                <a:solidFill>
                  <a:srgbClr val="1F2937"/>
                </a:solidFill>
                <a:latin typeface="Calibri"/>
              </a:rPr>
              <a:t>▪ Other cities and larger graphs</a:t>
            </a:r>
          </a:p>
          <a:p>
            <a:pPr>
              <a:spcAft>
                <a:spcPts val="1100"/>
              </a:spcAft>
            </a:pPr>
            <a:r>
              <a:rPr b="1" sz="1700">
                <a:solidFill>
                  <a:srgbClr val="0F766E"/>
                </a:solidFill>
                <a:latin typeface="Calibri"/>
              </a:rPr>
              <a:t>▪ Unknown destination</a:t>
            </a:r>
            <a:r>
              <a:rPr sz="1700">
                <a:solidFill>
                  <a:srgbClr val="1F2937"/>
                </a:solidFill>
                <a:latin typeface="Calibri"/>
              </a:rPr>
              <a:t> infer it from a partial trip</a:t>
            </a:r>
          </a:p>
          <a:p>
            <a:pPr>
              <a:spcAft>
                <a:spcPts val="1100"/>
              </a:spcAft>
            </a:pPr>
            <a:r>
              <a:rPr b="1" sz="1700">
                <a:solidFill>
                  <a:srgbClr val="0F766E"/>
                </a:solidFill>
                <a:latin typeface="Calibri"/>
              </a:rPr>
              <a:t>▪ Forward RL</a:t>
            </a:r>
            <a:r>
              <a:rPr sz="1700">
                <a:solidFill>
                  <a:srgbClr val="1F2937"/>
                </a:solidFill>
                <a:latin typeface="Calibri"/>
              </a:rPr>
              <a:t> use the learned reward for navigation or AV policy training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lIns="45720" rIns="45720" tIns="27432" bIns="27432" anchor="t">
            <a:spAutoFit/>
          </a:bodyPr>
          <a:lstStyle/>
          <a:p>
            <a:pPr algn="l"/>
            <a:r>
              <a:rPr sz="1200" b="1" i="0">
                <a:solidFill>
                  <a:srgbClr val="0F766E"/>
                </a:solidFill>
                <a:latin typeface="Calibri"/>
              </a:rPr>
              <a:t>APPENDIX</a:t>
            </a:r>
          </a:p>
        </p:txBody>
      </p:sp>
      <p:sp>
        <p:nvSpPr>
          <p:cNvPr id="3" name="TextBox 2"/>
          <p:cNvSpPr txBox="1"/>
          <p:nvPr/>
        </p:nvSpPr>
        <p:spPr>
          <a:xfrm>
            <a:off x="548640" y="566928"/>
            <a:ext cx="11064240" cy="731520"/>
          </a:xfrm>
          <a:prstGeom prst="rect">
            <a:avLst/>
          </a:prstGeom>
          <a:noFill/>
        </p:spPr>
        <p:txBody>
          <a:bodyPr wrap="square" lIns="45720" rIns="45720" tIns="27432" bIns="27432" anchor="t">
            <a:spAutoFit/>
          </a:bodyPr>
          <a:lstStyle/>
          <a:p>
            <a:pPr algn="l"/>
            <a:r>
              <a:rPr sz="2800" b="1" i="0">
                <a:solidFill>
                  <a:srgbClr val="0B1F3A"/>
                </a:solidFill>
                <a:latin typeface="Cambria"/>
              </a:rPr>
              <a:t>References</a:t>
            </a:r>
          </a:p>
        </p:txBody>
      </p:sp>
      <p:sp>
        <p:nvSpPr>
          <p:cNvPr id="4" name="TextBox 3"/>
          <p:cNvSpPr txBox="1"/>
          <p:nvPr/>
        </p:nvSpPr>
        <p:spPr>
          <a:xfrm>
            <a:off x="11155680" y="6446520"/>
            <a:ext cx="731520" cy="274320"/>
          </a:xfrm>
          <a:prstGeom prst="rect">
            <a:avLst/>
          </a:prstGeom>
          <a:noFill/>
        </p:spPr>
        <p:txBody>
          <a:bodyPr wrap="square" lIns="45720" rIns="45720" tIns="27432" bIns="27432" anchor="t">
            <a:spAutoFit/>
          </a:bodyPr>
          <a:lstStyle/>
          <a:p>
            <a:pPr algn="r"/>
            <a:r>
              <a:rPr sz="1100" b="0" i="0">
                <a:solidFill>
                  <a:srgbClr val="64748B"/>
                </a:solidFill>
                <a:latin typeface="Calibri"/>
              </a:rPr>
              <a:t>18</a:t>
            </a:r>
          </a:p>
        </p:txBody>
      </p:sp>
      <p:sp>
        <p:nvSpPr>
          <p:cNvPr id="5" name="TextBox 4"/>
          <p:cNvSpPr txBox="1"/>
          <p:nvPr/>
        </p:nvSpPr>
        <p:spPr>
          <a:xfrm>
            <a:off x="548640" y="1371600"/>
            <a:ext cx="11064240" cy="5029200"/>
          </a:xfrm>
          <a:prstGeom prst="rect">
            <a:avLst/>
          </a:prstGeom>
          <a:noFill/>
        </p:spPr>
        <p:txBody>
          <a:bodyPr wrap="square" lIns="45720" rIns="45720" tIns="27432" bIns="27432" anchor="t">
            <a:spAutoFit/>
          </a:bodyPr>
          <a:lstStyle/>
          <a:p>
            <a:pPr algn="l"/>
            <a:r>
              <a:rPr sz="1500" b="0" i="0">
                <a:solidFill>
                  <a:srgbClr val="1F2937"/>
                </a:solidFill>
                <a:latin typeface="Calibri"/>
              </a:rPr>
              <a:t>[1] B. D. Ziebart, A. Maas, J. A. Bagnell, A. K. Dey, "Maximum entropy inverse reinforcement learning," AAAI, 2008, pp. 1433–1438.</a:t>
            </a:r>
          </a:p>
          <a:p>
            <a:pPr algn="l"/>
            <a:r>
              <a:rPr sz="1500" b="0" i="0">
                <a:solidFill>
                  <a:srgbClr val="1F2937"/>
                </a:solidFill>
                <a:latin typeface="Calibri"/>
              </a:rPr>
              <a:t>[2] B. D. Ziebart, A. Maas, A. K. Dey, J. A. Bagnell, "Navigate like a cabbie: probabilistic reasoning from observed context-aware behavior," UbiComp, 2008.</a:t>
            </a:r>
          </a:p>
          <a:p>
            <a:pPr algn="l"/>
            <a:r>
              <a:rPr sz="1500" b="0" i="0">
                <a:solidFill>
                  <a:srgbClr val="1F2937"/>
                </a:solidFill>
                <a:latin typeface="Calibri"/>
              </a:rPr>
              <a:t>[3] A. Y. Ng, S. J. Russell, "Algorithms for inverse reinforcement learning," ICML, 2000, pp. 663–670.</a:t>
            </a:r>
          </a:p>
          <a:p>
            <a:pPr algn="l"/>
            <a:r>
              <a:rPr sz="1500" b="0" i="0">
                <a:solidFill>
                  <a:srgbClr val="1F2937"/>
                </a:solidFill>
                <a:latin typeface="Calibri"/>
              </a:rPr>
              <a:t>[4] P. Abbeel, A. Y. Ng, "Apprenticeship learning via inverse reinforcement learning," ICML, 2004.</a:t>
            </a:r>
          </a:p>
          <a:p>
            <a:pPr algn="l"/>
            <a:r>
              <a:rPr sz="1500" b="0" i="0">
                <a:solidFill>
                  <a:srgbClr val="1F2937"/>
                </a:solidFill>
                <a:latin typeface="Calibri"/>
              </a:rPr>
              <a:t>[5] M. Wulfmeier, P. Ondruska, I. Posner, "Maximum entropy deep inverse reinforcement learning," arXiv:1507.04888, 2015.</a:t>
            </a:r>
          </a:p>
          <a:p>
            <a:pPr algn="l"/>
            <a:r>
              <a:rPr sz="1500" b="0" i="0">
                <a:solidFill>
                  <a:srgbClr val="1F2937"/>
                </a:solidFill>
                <a:latin typeface="Calibri"/>
              </a:rPr>
              <a:t>[6] C. Finn, S. Levine, P. Abbeel, "Guided cost learning: deep inverse optimal control via policy optimization," ICML, 2016.</a:t>
            </a:r>
          </a:p>
          <a:p>
            <a:pPr algn="l"/>
            <a:r>
              <a:rPr sz="1500" b="0" i="0">
                <a:solidFill>
                  <a:srgbClr val="1F2937"/>
                </a:solidFill>
                <a:latin typeface="Calibri"/>
              </a:rPr>
              <a:t>[7] D. McFadden, "Conditional logit analysis of qualitative choice behavior," Frontiers in Econometrics, 1974.</a:t>
            </a:r>
          </a:p>
          <a:p>
            <a:pPr algn="l"/>
            <a:r>
              <a:rPr sz="1500" b="0" i="0">
                <a:solidFill>
                  <a:srgbClr val="1F2937"/>
                </a:solidFill>
                <a:latin typeface="Calibri"/>
              </a:rPr>
              <a:t>[8] P. Newson, J. Krumm, "Hidden Markov map matching through noise and sparseness," ACM SIGSPATIAL GIS, 2009.</a:t>
            </a:r>
          </a:p>
          <a:p>
            <a:pPr algn="l"/>
            <a:r>
              <a:rPr sz="1500" b="0" i="0">
                <a:solidFill>
                  <a:srgbClr val="1F2937"/>
                </a:solidFill>
                <a:latin typeface="Calibri"/>
              </a:rPr>
              <a:t>[9] L. Moreira-Matias et al., "Predicting taxi–passenger demand using streaming data," IEEE Trans. ITS, 14(3), 2013.</a:t>
            </a:r>
          </a:p>
          <a:p>
            <a:pPr algn="l"/>
            <a:r>
              <a:rPr sz="1500" b="0" i="0">
                <a:solidFill>
                  <a:srgbClr val="1F2937"/>
                </a:solidFill>
                <a:latin typeface="Calibri"/>
              </a:rPr>
              <a:t>[10] G. Boeing, "OSMnx: new methods for acquiring, constructing, analyzing, and visualizing complex street networks," Comput. Environ. Urban Syst., 65, 2017.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